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10.fntdata" ContentType="application/x-fontdata"/>
  <Override PartName="/ppt/fonts/font11.fntdata" ContentType="application/x-fontdata"/>
  <Override PartName="/ppt/fonts/font12.fntdata" ContentType="application/x-fontdata"/>
  <Override PartName="/ppt/fonts/font2.fntdata" ContentType="application/x-fontdata"/>
  <Override PartName="/ppt/fonts/font3.fntdata" ContentType="application/x-fontdata"/>
  <Override PartName="/ppt/fonts/font4.fntdata" ContentType="application/x-fontdata"/>
  <Override PartName="/ppt/fonts/font5.fntdata" ContentType="application/x-fontdata"/>
  <Override PartName="/ppt/fonts/font6.fntdata" ContentType="application/x-fontdata"/>
  <Override PartName="/ppt/fonts/font7.fntdata" ContentType="application/x-fontdata"/>
  <Override PartName="/ppt/fonts/font8.fntdata" ContentType="application/x-fontdata"/>
  <Override PartName="/ppt/fonts/font9.fntdata" ContentType="application/x-fontdata"/>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 id="263" r:id="rId11"/>
  </p:sldIdLst>
  <p:sldSz cx="14630400" cy="8229600"/>
  <p:notesSz cx="8229600" cy="14630400"/>
  <p:embeddedFontLst>
    <p:embeddedFont>
      <p:font typeface="Montserrat Black" pitchFamily="34" charset="0"/>
      <p:bold r:id="rId15"/>
    </p:embeddedFont>
    <p:embeddedFont>
      <p:font typeface="Montserrat Black" pitchFamily="34" charset="-122"/>
      <p:bold r:id="rId16"/>
    </p:embeddedFont>
    <p:embeddedFont>
      <p:font typeface="Montserrat Black" pitchFamily="34" charset="-120"/>
      <p:bold r:id="rId17"/>
    </p:embeddedFont>
    <p:embeddedFont>
      <p:font typeface="Inconsolata" panose="00000509000000000000" pitchFamily="34" charset="0"/>
      <p:bold r:id="rId18"/>
    </p:embeddedFont>
    <p:embeddedFont>
      <p:font typeface="Inconsolata" panose="00000509000000000000" pitchFamily="34" charset="-122"/>
      <p:bold r:id="rId19"/>
    </p:embeddedFont>
    <p:embeddedFont>
      <p:font typeface="Inconsolata" panose="00000509000000000000" pitchFamily="34" charset="-120"/>
      <p:bold r:id="rId20"/>
    </p:embeddedFont>
    <p:embeddedFont>
      <p:font typeface="Calibri" panose="020F0502020204030204" charset="0"/>
      <p:regular r:id="rId21"/>
      <p:bold r:id="rId22"/>
      <p:italic r:id="rId23"/>
      <p:boldItalic r:id="rId24"/>
    </p:embeddedFont>
    <p:embeddedFont>
      <p:font typeface="等线" panose="02010600030101010101" charset="-122"/>
      <p:regular r:id="rId25"/>
    </p:embeddedFont>
    <p:embeddedFont>
      <p:font typeface="Yu Gothic" panose="020B0400000000000000" charset="-128"/>
      <p:regular r:id="rId26"/>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6" Type="http://schemas.openxmlformats.org/officeDocument/2006/relationships/font" Target="fonts/font12.fntdata"/><Relationship Id="rId25" Type="http://schemas.openxmlformats.org/officeDocument/2006/relationships/font" Target="fonts/font11.fntdata"/><Relationship Id="rId24" Type="http://schemas.openxmlformats.org/officeDocument/2006/relationships/font" Target="fonts/font10.fntdata"/><Relationship Id="rId23" Type="http://schemas.openxmlformats.org/officeDocument/2006/relationships/font" Target="fonts/font9.fntdata"/><Relationship Id="rId22" Type="http://schemas.openxmlformats.org/officeDocument/2006/relationships/font" Target="fonts/font8.fntdata"/><Relationship Id="rId21" Type="http://schemas.openxmlformats.org/officeDocument/2006/relationships/font" Target="fonts/font7.fntdata"/><Relationship Id="rId20" Type="http://schemas.openxmlformats.org/officeDocument/2006/relationships/font" Target="fonts/font6.fntdata"/><Relationship Id="rId2" Type="http://schemas.openxmlformats.org/officeDocument/2006/relationships/theme" Target="theme/theme1.xml"/><Relationship Id="rId19" Type="http://schemas.openxmlformats.org/officeDocument/2006/relationships/font" Target="fonts/font5.fntdata"/><Relationship Id="rId18" Type="http://schemas.openxmlformats.org/officeDocument/2006/relationships/font" Target="fonts/font4.fntdata"/><Relationship Id="rId17" Type="http://schemas.openxmlformats.org/officeDocument/2006/relationships/font" Target="fonts/font3.fntdata"/><Relationship Id="rId16" Type="http://schemas.openxmlformats.org/officeDocument/2006/relationships/font" Target="fonts/font2.fntdata"/><Relationship Id="rId15" Type="http://schemas.openxmlformats.org/officeDocument/2006/relationships/font" Target="fonts/font1.fntdata"/><Relationship Id="rId14" Type="http://schemas.openxmlformats.org/officeDocument/2006/relationships/tableStyles" Target="tableStyles.xml"/><Relationship Id="rId13" Type="http://schemas.openxmlformats.org/officeDocument/2006/relationships/viewProps" Target="viewProps.xml"/><Relationship Id="rId12" Type="http://schemas.openxmlformats.org/officeDocument/2006/relationships/presProps" Target="presProps.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8ECE4"/>
          </a:solidFill>
        </p:spPr>
      </p:sp>
      <p:sp>
        <p:nvSpPr>
          <p:cNvPr id="3" name="Shape 1"/>
          <p:cNvSpPr/>
          <p:nvPr/>
        </p:nvSpPr>
        <p:spPr>
          <a:xfrm>
            <a:off x="0" y="0"/>
            <a:ext cx="14630400" cy="8229600"/>
          </a:xfrm>
          <a:prstGeom prst="rect">
            <a:avLst/>
          </a:prstGeom>
          <a:solidFill>
            <a:srgbClr val="F8ECE4"/>
          </a:solidFill>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8ECE4"/>
          </a:solidFill>
        </p:spPr>
      </p:sp>
      <p:sp>
        <p:nvSpPr>
          <p:cNvPr id="3" name="Shape 1"/>
          <p:cNvSpPr/>
          <p:nvPr/>
        </p:nvSpPr>
        <p:spPr>
          <a:xfrm>
            <a:off x="0" y="0"/>
            <a:ext cx="14630400" cy="8229600"/>
          </a:xfrm>
          <a:prstGeom prst="rect">
            <a:avLst/>
          </a:prstGeom>
          <a:solidFill>
            <a:srgbClr val="F8ECE4"/>
          </a:solidFill>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8ECE4"/>
          </a:solidFill>
        </p:spPr>
      </p:sp>
      <p:sp>
        <p:nvSpPr>
          <p:cNvPr id="3" name="Shape 1"/>
          <p:cNvSpPr/>
          <p:nvPr/>
        </p:nvSpPr>
        <p:spPr>
          <a:xfrm>
            <a:off x="0" y="0"/>
            <a:ext cx="14630400" cy="8229600"/>
          </a:xfrm>
          <a:prstGeom prst="rect">
            <a:avLst/>
          </a:prstGeom>
          <a:solidFill>
            <a:srgbClr val="F8ECE4"/>
          </a:solidFill>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8ECE4"/>
          </a:solidFill>
        </p:spPr>
      </p:sp>
      <p:sp>
        <p:nvSpPr>
          <p:cNvPr id="3" name="Shape 1"/>
          <p:cNvSpPr/>
          <p:nvPr/>
        </p:nvSpPr>
        <p:spPr>
          <a:xfrm>
            <a:off x="0" y="0"/>
            <a:ext cx="14630400" cy="8229600"/>
          </a:xfrm>
          <a:prstGeom prst="rect">
            <a:avLst/>
          </a:prstGeom>
          <a:solidFill>
            <a:srgbClr val="F8ECE4"/>
          </a:solidFill>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8ECE4"/>
          </a:solidFill>
        </p:spPr>
      </p:sp>
      <p:sp>
        <p:nvSpPr>
          <p:cNvPr id="3" name="Shape 1"/>
          <p:cNvSpPr/>
          <p:nvPr/>
        </p:nvSpPr>
        <p:spPr>
          <a:xfrm>
            <a:off x="0" y="0"/>
            <a:ext cx="14630400" cy="8229600"/>
          </a:xfrm>
          <a:prstGeom prst="rect">
            <a:avLst/>
          </a:prstGeom>
          <a:solidFill>
            <a:srgbClr val="F8ECE4"/>
          </a:solidFill>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8ECE4"/>
          </a:solidFill>
        </p:spPr>
      </p:sp>
      <p:sp>
        <p:nvSpPr>
          <p:cNvPr id="3" name="Shape 1"/>
          <p:cNvSpPr/>
          <p:nvPr/>
        </p:nvSpPr>
        <p:spPr>
          <a:xfrm>
            <a:off x="0" y="0"/>
            <a:ext cx="14630400" cy="8229600"/>
          </a:xfrm>
          <a:prstGeom prst="rect">
            <a:avLst/>
          </a:prstGeom>
          <a:solidFill>
            <a:srgbClr val="F8ECE4"/>
          </a:solidFill>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8ECE4"/>
          </a:solidFill>
        </p:spPr>
      </p:sp>
      <p:sp>
        <p:nvSpPr>
          <p:cNvPr id="3" name="Shape 1"/>
          <p:cNvSpPr/>
          <p:nvPr/>
        </p:nvSpPr>
        <p:spPr>
          <a:xfrm>
            <a:off x="0" y="0"/>
            <a:ext cx="14630400" cy="8229600"/>
          </a:xfrm>
          <a:prstGeom prst="rect">
            <a:avLst/>
          </a:prstGeom>
          <a:solidFill>
            <a:srgbClr val="F8ECE4"/>
          </a:solidFill>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8ECE4"/>
          </a:solidFill>
        </p:spPr>
      </p:sp>
      <p:sp>
        <p:nvSpPr>
          <p:cNvPr id="3" name="Shape 1"/>
          <p:cNvSpPr/>
          <p:nvPr/>
        </p:nvSpPr>
        <p:spPr>
          <a:xfrm>
            <a:off x="0" y="0"/>
            <a:ext cx="14630400" cy="8229600"/>
          </a:xfrm>
          <a:prstGeom prst="rect">
            <a:avLst/>
          </a:prstGeom>
          <a:solidFill>
            <a:srgbClr val="F8ECE4"/>
          </a:solidFill>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0"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9" Type="http://schemas.openxmlformats.org/officeDocument/2006/relationships/tags" Target="../tags/tag9.xml"/><Relationship Id="rId8" Type="http://schemas.openxmlformats.org/officeDocument/2006/relationships/tags" Target="../tags/tag8.xml"/><Relationship Id="rId7" Type="http://schemas.openxmlformats.org/officeDocument/2006/relationships/tags" Target="../tags/tag7.xml"/><Relationship Id="rId6" Type="http://schemas.openxmlformats.org/officeDocument/2006/relationships/tags" Target="../tags/tag6.xml"/><Relationship Id="rId5" Type="http://schemas.openxmlformats.org/officeDocument/2006/relationships/tags" Target="../tags/tag5.xml"/><Relationship Id="rId4" Type="http://schemas.openxmlformats.org/officeDocument/2006/relationships/tags" Target="../tags/tag4.xml"/><Relationship Id="rId3" Type="http://schemas.openxmlformats.org/officeDocument/2006/relationships/tags" Target="../tags/tag3.xml"/><Relationship Id="rId2" Type="http://schemas.openxmlformats.org/officeDocument/2006/relationships/tags" Target="../tags/tag2.xml"/><Relationship Id="rId14" Type="http://schemas.openxmlformats.org/officeDocument/2006/relationships/notesSlide" Target="../notesSlides/notesSlide2.xml"/><Relationship Id="rId13" Type="http://schemas.openxmlformats.org/officeDocument/2006/relationships/slideLayout" Target="../slideLayouts/slideLayout3.xml"/><Relationship Id="rId12" Type="http://schemas.openxmlformats.org/officeDocument/2006/relationships/tags" Target="../tags/tag12.xml"/><Relationship Id="rId11" Type="http://schemas.openxmlformats.org/officeDocument/2006/relationships/tags" Target="../tags/tag11.xml"/><Relationship Id="rId10" Type="http://schemas.openxmlformats.org/officeDocument/2006/relationships/tags" Target="../tags/tag10.xml"/><Relationship Id="rId1" Type="http://schemas.openxmlformats.org/officeDocument/2006/relationships/tags" Target="../tags/tag1.xml"/></Relationships>
</file>

<file path=ppt/slides/_rels/slide3.xml.rels><?xml version="1.0" encoding="UTF-8" standalone="yes"?>
<Relationships xmlns="http://schemas.openxmlformats.org/package/2006/relationships"><Relationship Id="rId8" Type="http://schemas.openxmlformats.org/officeDocument/2006/relationships/notesSlide" Target="../notesSlides/notesSlide3.xml"/><Relationship Id="rId7" Type="http://schemas.openxmlformats.org/officeDocument/2006/relationships/slideLayout" Target="../slideLayouts/slideLayout4.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image" Target="../media/image2.png"/></Relationships>
</file>

<file path=ppt/slides/_rels/slide4.xml.rels><?xml version="1.0" encoding="UTF-8" standalone="yes"?>
<Relationships xmlns="http://schemas.openxmlformats.org/package/2006/relationships"><Relationship Id="rId9" Type="http://schemas.openxmlformats.org/officeDocument/2006/relationships/tags" Target="../tags/tag18.xml"/><Relationship Id="rId8" Type="http://schemas.openxmlformats.org/officeDocument/2006/relationships/tags" Target="../tags/tag17.xml"/><Relationship Id="rId7" Type="http://schemas.openxmlformats.org/officeDocument/2006/relationships/image" Target="../media/image10.png"/><Relationship Id="rId6" Type="http://schemas.openxmlformats.org/officeDocument/2006/relationships/tags" Target="../tags/tag16.xml"/><Relationship Id="rId5" Type="http://schemas.openxmlformats.org/officeDocument/2006/relationships/tags" Target="../tags/tag15.xml"/><Relationship Id="rId4" Type="http://schemas.openxmlformats.org/officeDocument/2006/relationships/image" Target="../media/image9.png"/><Relationship Id="rId3" Type="http://schemas.openxmlformats.org/officeDocument/2006/relationships/tags" Target="../tags/tag14.xml"/><Relationship Id="rId2" Type="http://schemas.openxmlformats.org/officeDocument/2006/relationships/tags" Target="../tags/tag13.xml"/><Relationship Id="rId11" Type="http://schemas.openxmlformats.org/officeDocument/2006/relationships/notesSlide" Target="../notesSlides/notesSlide4.xml"/><Relationship Id="rId10" Type="http://schemas.openxmlformats.org/officeDocument/2006/relationships/slideLayout" Target="../slideLayouts/slideLayout5.xml"/><Relationship Id="rId1" Type="http://schemas.openxmlformats.org/officeDocument/2006/relationships/image" Target="../media/image8.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9" Type="http://schemas.openxmlformats.org/officeDocument/2006/relationships/tags" Target="../tags/tag25.xml"/><Relationship Id="rId8" Type="http://schemas.openxmlformats.org/officeDocument/2006/relationships/tags" Target="../tags/tag24.xml"/><Relationship Id="rId7" Type="http://schemas.openxmlformats.org/officeDocument/2006/relationships/tags" Target="../tags/tag23.xml"/><Relationship Id="rId6" Type="http://schemas.openxmlformats.org/officeDocument/2006/relationships/image" Target="../media/image12.png"/><Relationship Id="rId5" Type="http://schemas.openxmlformats.org/officeDocument/2006/relationships/tags" Target="../tags/tag22.xml"/><Relationship Id="rId4" Type="http://schemas.openxmlformats.org/officeDocument/2006/relationships/image" Target="../media/image11.png"/><Relationship Id="rId3" Type="http://schemas.openxmlformats.org/officeDocument/2006/relationships/tags" Target="../tags/tag21.xml"/><Relationship Id="rId26" Type="http://schemas.openxmlformats.org/officeDocument/2006/relationships/notesSlide" Target="../notesSlides/notesSlide7.xml"/><Relationship Id="rId25" Type="http://schemas.openxmlformats.org/officeDocument/2006/relationships/slideLayout" Target="../slideLayouts/slideLayout8.xml"/><Relationship Id="rId24" Type="http://schemas.openxmlformats.org/officeDocument/2006/relationships/image" Target="../media/image18.png"/><Relationship Id="rId23" Type="http://schemas.openxmlformats.org/officeDocument/2006/relationships/tags" Target="../tags/tag34.xml"/><Relationship Id="rId22" Type="http://schemas.openxmlformats.org/officeDocument/2006/relationships/image" Target="../media/image17.png"/><Relationship Id="rId21" Type="http://schemas.openxmlformats.org/officeDocument/2006/relationships/tags" Target="../tags/tag33.xml"/><Relationship Id="rId20" Type="http://schemas.openxmlformats.org/officeDocument/2006/relationships/tags" Target="../tags/tag32.xml"/><Relationship Id="rId2" Type="http://schemas.openxmlformats.org/officeDocument/2006/relationships/tags" Target="../tags/tag20.xml"/><Relationship Id="rId19" Type="http://schemas.openxmlformats.org/officeDocument/2006/relationships/tags" Target="../tags/tag31.xml"/><Relationship Id="rId18" Type="http://schemas.openxmlformats.org/officeDocument/2006/relationships/image" Target="../media/image16.png"/><Relationship Id="rId17" Type="http://schemas.openxmlformats.org/officeDocument/2006/relationships/tags" Target="../tags/tag30.xml"/><Relationship Id="rId16" Type="http://schemas.openxmlformats.org/officeDocument/2006/relationships/image" Target="../media/image15.png"/><Relationship Id="rId15" Type="http://schemas.openxmlformats.org/officeDocument/2006/relationships/tags" Target="../tags/tag29.xml"/><Relationship Id="rId14" Type="http://schemas.openxmlformats.org/officeDocument/2006/relationships/tags" Target="../tags/tag28.xml"/><Relationship Id="rId13" Type="http://schemas.openxmlformats.org/officeDocument/2006/relationships/tags" Target="../tags/tag27.xml"/><Relationship Id="rId12" Type="http://schemas.openxmlformats.org/officeDocument/2006/relationships/image" Target="../media/image14.png"/><Relationship Id="rId11" Type="http://schemas.openxmlformats.org/officeDocument/2006/relationships/tags" Target="../tags/tag26.xml"/><Relationship Id="rId10" Type="http://schemas.openxmlformats.org/officeDocument/2006/relationships/image" Target="../media/image13.png"/><Relationship Id="rId1" Type="http://schemas.openxmlformats.org/officeDocument/2006/relationships/tags" Target="../tags/tag19.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93790" y="2053709"/>
            <a:ext cx="13042821" cy="1417558"/>
          </a:xfrm>
          <a:prstGeom prst="rect">
            <a:avLst/>
          </a:prstGeom>
          <a:noFill/>
        </p:spPr>
        <p:txBody>
          <a:bodyPr wrap="square" lIns="0" tIns="0" rIns="0" bIns="0" rtlCol="0" anchor="t"/>
          <a:lstStyle/>
          <a:p>
            <a:pPr marL="0" indent="0" algn="ctr">
              <a:lnSpc>
                <a:spcPts val="5550"/>
              </a:lnSpc>
              <a:buNone/>
            </a:pPr>
            <a:r>
              <a:rPr lang="en-US" sz="4450" b="1" dirty="0">
                <a:solidFill>
                  <a:srgbClr val="151617"/>
                </a:solidFill>
                <a:latin typeface="Montserrat Black" pitchFamily="34" charset="0"/>
                <a:ea typeface="Montserrat Black" pitchFamily="34" charset="-122"/>
                <a:cs typeface="Montserrat Black" pitchFamily="34" charset="-120"/>
              </a:rPr>
              <a:t>絵本『100万回生きたねこ』</a:t>
            </a:r>
            <a:endParaRPr lang="en-US" sz="4450" b="1" dirty="0">
              <a:solidFill>
                <a:srgbClr val="151617"/>
              </a:solidFill>
              <a:latin typeface="Montserrat Black" pitchFamily="34" charset="0"/>
              <a:ea typeface="Montserrat Black" pitchFamily="34" charset="-122"/>
              <a:cs typeface="Montserrat Black" pitchFamily="34" charset="-120"/>
            </a:endParaRPr>
          </a:p>
          <a:p>
            <a:pPr marL="0" indent="0" algn="ctr">
              <a:lnSpc>
                <a:spcPts val="5550"/>
              </a:lnSpc>
              <a:buNone/>
            </a:pPr>
            <a:r>
              <a:rPr lang="en-US" sz="4450" b="1" dirty="0">
                <a:solidFill>
                  <a:srgbClr val="151617"/>
                </a:solidFill>
                <a:latin typeface="Montserrat Black" pitchFamily="34" charset="0"/>
                <a:ea typeface="Montserrat Black" pitchFamily="34" charset="-122"/>
                <a:cs typeface="Montserrat Black" pitchFamily="34" charset="-120"/>
              </a:rPr>
              <a:t>における死生観表現の研究</a:t>
            </a:r>
            <a:endParaRPr lang="en-US" sz="4450" dirty="0"/>
          </a:p>
        </p:txBody>
      </p:sp>
      <p:sp>
        <p:nvSpPr>
          <p:cNvPr id="3" name="Text 1"/>
          <p:cNvSpPr/>
          <p:nvPr/>
        </p:nvSpPr>
        <p:spPr>
          <a:xfrm>
            <a:off x="793790" y="3924895"/>
            <a:ext cx="13042821" cy="362903"/>
          </a:xfrm>
          <a:prstGeom prst="rect">
            <a:avLst/>
          </a:prstGeom>
          <a:noFill/>
        </p:spPr>
        <p:txBody>
          <a:bodyPr wrap="none" lIns="0" tIns="0" rIns="0" bIns="0" rtlCol="0" anchor="t"/>
          <a:lstStyle/>
          <a:p>
            <a:pPr marL="0" indent="0" algn="l">
              <a:lnSpc>
                <a:spcPts val="2850"/>
              </a:lnSpc>
              <a:buNone/>
            </a:pPr>
            <a:r>
              <a:rPr lang="en-US" sz="1750" dirty="0">
                <a:solidFill>
                  <a:srgbClr val="151617"/>
                </a:solidFill>
                <a:latin typeface="Inconsolata" panose="00000509000000000000" pitchFamily="34" charset="0"/>
                <a:ea typeface="Inconsolata" panose="00000509000000000000" pitchFamily="34" charset="-122"/>
                <a:cs typeface="Inconsolata" panose="00000509000000000000" pitchFamily="34" charset="-120"/>
              </a:rPr>
              <a:t>氏名：徐婉怡</a:t>
            </a:r>
            <a:endParaRPr lang="en-US" sz="1750" dirty="0"/>
          </a:p>
        </p:txBody>
      </p:sp>
      <p:sp>
        <p:nvSpPr>
          <p:cNvPr id="4" name="Text 2"/>
          <p:cNvSpPr/>
          <p:nvPr/>
        </p:nvSpPr>
        <p:spPr>
          <a:xfrm>
            <a:off x="793790" y="4542949"/>
            <a:ext cx="13042821" cy="362903"/>
          </a:xfrm>
          <a:prstGeom prst="rect">
            <a:avLst/>
          </a:prstGeom>
          <a:noFill/>
        </p:spPr>
        <p:txBody>
          <a:bodyPr wrap="none" lIns="0" tIns="0" rIns="0" bIns="0" rtlCol="0" anchor="t"/>
          <a:lstStyle/>
          <a:p>
            <a:pPr marL="0" indent="0" algn="l">
              <a:lnSpc>
                <a:spcPts val="2850"/>
              </a:lnSpc>
              <a:buNone/>
            </a:pPr>
            <a:r>
              <a:rPr lang="en-US" sz="1750" dirty="0">
                <a:solidFill>
                  <a:srgbClr val="151617"/>
                </a:solidFill>
                <a:latin typeface="Inconsolata" panose="00000509000000000000" pitchFamily="34" charset="0"/>
                <a:ea typeface="Inconsolata" panose="00000509000000000000" pitchFamily="34" charset="-122"/>
                <a:cs typeface="Inconsolata" panose="00000509000000000000" pitchFamily="34" charset="-120"/>
              </a:rPr>
              <a:t>所属：広東海洋大学 外国語学院</a:t>
            </a:r>
            <a:endParaRPr lang="en-US" sz="1750" dirty="0"/>
          </a:p>
        </p:txBody>
      </p:sp>
      <p:sp>
        <p:nvSpPr>
          <p:cNvPr id="5" name="Text 3"/>
          <p:cNvSpPr/>
          <p:nvPr/>
        </p:nvSpPr>
        <p:spPr>
          <a:xfrm>
            <a:off x="793790" y="5161002"/>
            <a:ext cx="13042821" cy="362903"/>
          </a:xfrm>
          <a:prstGeom prst="rect">
            <a:avLst/>
          </a:prstGeom>
          <a:noFill/>
        </p:spPr>
        <p:txBody>
          <a:bodyPr wrap="none" lIns="0" tIns="0" rIns="0" bIns="0" rtlCol="0" anchor="t"/>
          <a:lstStyle/>
          <a:p>
            <a:pPr marL="0" indent="0" algn="l">
              <a:lnSpc>
                <a:spcPts val="2850"/>
              </a:lnSpc>
              <a:buNone/>
            </a:pPr>
            <a:r>
              <a:rPr lang="en-US" sz="1750" dirty="0">
                <a:solidFill>
                  <a:srgbClr val="151617"/>
                </a:solidFill>
                <a:latin typeface="Inconsolata" panose="00000509000000000000" pitchFamily="34" charset="0"/>
                <a:ea typeface="Inconsolata" panose="00000509000000000000" pitchFamily="34" charset="-122"/>
                <a:cs typeface="Inconsolata" panose="00000509000000000000" pitchFamily="34" charset="-120"/>
              </a:rPr>
              <a:t>指導教員：黄偉明 先生</a:t>
            </a:r>
            <a:endParaRPr lang="en-US" sz="1750" dirty="0"/>
          </a:p>
        </p:txBody>
      </p:sp>
      <p:sp>
        <p:nvSpPr>
          <p:cNvPr id="6" name="Shape 4"/>
          <p:cNvSpPr/>
          <p:nvPr/>
        </p:nvSpPr>
        <p:spPr>
          <a:xfrm>
            <a:off x="793790" y="5795963"/>
            <a:ext cx="362903" cy="362903"/>
          </a:xfrm>
          <a:prstGeom prst="roundRect">
            <a:avLst>
              <a:gd name="adj" fmla="val 25194296"/>
            </a:avLst>
          </a:prstGeom>
          <a:noFill/>
          <a:ln w="7620">
            <a:solidFill>
              <a:srgbClr val="FFFFFF"/>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93790" y="2194084"/>
            <a:ext cx="5670590" cy="708779"/>
          </a:xfrm>
          <a:prstGeom prst="rect">
            <a:avLst/>
          </a:prstGeom>
          <a:noFill/>
        </p:spPr>
        <p:txBody>
          <a:bodyPr wrap="none" lIns="0" tIns="0" rIns="0" bIns="0" rtlCol="0" anchor="t"/>
          <a:lstStyle/>
          <a:p>
            <a:pPr marL="0" indent="0" algn="l">
              <a:lnSpc>
                <a:spcPts val="5550"/>
              </a:lnSpc>
              <a:buNone/>
            </a:pPr>
            <a:r>
              <a:rPr lang="en-US" sz="4450" b="1" dirty="0">
                <a:solidFill>
                  <a:srgbClr val="151617"/>
                </a:solidFill>
                <a:latin typeface="Montserrat Black" pitchFamily="34" charset="0"/>
                <a:ea typeface="Montserrat Black" pitchFamily="34" charset="-122"/>
                <a:cs typeface="Montserrat Black" pitchFamily="34" charset="-120"/>
              </a:rPr>
              <a:t>研究目的と背景</a:t>
            </a:r>
            <a:endParaRPr lang="en-US" sz="4450" dirty="0"/>
          </a:p>
        </p:txBody>
      </p:sp>
      <p:sp>
        <p:nvSpPr>
          <p:cNvPr id="3" name="Shape 1"/>
          <p:cNvSpPr/>
          <p:nvPr>
            <p:custDataLst>
              <p:tags r:id="rId1"/>
            </p:custDataLst>
          </p:nvPr>
        </p:nvSpPr>
        <p:spPr>
          <a:xfrm>
            <a:off x="793790" y="3356491"/>
            <a:ext cx="510302" cy="510302"/>
          </a:xfrm>
          <a:prstGeom prst="roundRect">
            <a:avLst>
              <a:gd name="adj" fmla="val 1792"/>
            </a:avLst>
          </a:prstGeom>
          <a:solidFill>
            <a:srgbClr val="F8ECE4"/>
          </a:solidFill>
          <a:ln w="7620">
            <a:solidFill>
              <a:srgbClr val="151617"/>
            </a:solidFill>
            <a:prstDash val="solid"/>
          </a:ln>
          <a:effectLst>
            <a:outerShdw dist="20320" dir="2700000" algn="bl" rotWithShape="0">
              <a:srgbClr val="151617">
                <a:alpha val="100000"/>
              </a:srgbClr>
            </a:outerShdw>
          </a:effectLst>
        </p:spPr>
      </p:sp>
      <p:sp>
        <p:nvSpPr>
          <p:cNvPr id="4" name="Text 2"/>
          <p:cNvSpPr/>
          <p:nvPr>
            <p:custDataLst>
              <p:tags r:id="rId2"/>
            </p:custDataLst>
          </p:nvPr>
        </p:nvSpPr>
        <p:spPr>
          <a:xfrm>
            <a:off x="1530906" y="3434358"/>
            <a:ext cx="3967282" cy="354330"/>
          </a:xfrm>
          <a:prstGeom prst="rect">
            <a:avLst/>
          </a:prstGeom>
          <a:noFill/>
        </p:spPr>
        <p:txBody>
          <a:bodyPr wrap="none" lIns="0" tIns="0" rIns="0" bIns="0" rtlCol="0" anchor="t"/>
          <a:lstStyle/>
          <a:p>
            <a:pPr marL="0" indent="0" algn="l">
              <a:lnSpc>
                <a:spcPts val="2750"/>
              </a:lnSpc>
              <a:buNone/>
            </a:pPr>
            <a:r>
              <a:rPr lang="en-US" sz="2200" b="1" dirty="0">
                <a:solidFill>
                  <a:srgbClr val="151617"/>
                </a:solidFill>
                <a:latin typeface="Montserrat Black" pitchFamily="34" charset="0"/>
                <a:ea typeface="Montserrat Black" pitchFamily="34" charset="-122"/>
                <a:cs typeface="Montserrat Black" pitchFamily="34" charset="-120"/>
              </a:rPr>
              <a:t>現代社会における死の不可視化</a:t>
            </a:r>
            <a:endParaRPr lang="en-US" sz="2200" dirty="0"/>
          </a:p>
        </p:txBody>
      </p:sp>
      <p:sp>
        <p:nvSpPr>
          <p:cNvPr id="5" name="Text 3"/>
          <p:cNvSpPr/>
          <p:nvPr>
            <p:custDataLst>
              <p:tags r:id="rId3"/>
            </p:custDataLst>
          </p:nvPr>
        </p:nvSpPr>
        <p:spPr>
          <a:xfrm>
            <a:off x="1530906" y="3924776"/>
            <a:ext cx="5642610" cy="362903"/>
          </a:xfrm>
          <a:prstGeom prst="rect">
            <a:avLst/>
          </a:prstGeom>
          <a:noFill/>
        </p:spPr>
        <p:txBody>
          <a:bodyPr wrap="none" lIns="0" tIns="0" rIns="0" bIns="0" rtlCol="0" anchor="t"/>
          <a:lstStyle/>
          <a:p>
            <a:pPr marL="0" indent="0" algn="l">
              <a:lnSpc>
                <a:spcPts val="2850"/>
              </a:lnSpc>
              <a:buNone/>
            </a:pPr>
            <a:r>
              <a:rPr lang="en-US" sz="1750" dirty="0">
                <a:solidFill>
                  <a:srgbClr val="151617"/>
                </a:solidFill>
                <a:latin typeface="Inconsolata" panose="00000509000000000000" pitchFamily="34" charset="0"/>
                <a:ea typeface="Inconsolata" panose="00000509000000000000" pitchFamily="34" charset="-122"/>
                <a:cs typeface="Inconsolata" panose="00000509000000000000" pitchFamily="34" charset="-120"/>
              </a:rPr>
              <a:t>現代社会における死の不可視化と希薄化する死生観。</a:t>
            </a:r>
            <a:endParaRPr lang="en-US" sz="1750" dirty="0"/>
          </a:p>
        </p:txBody>
      </p:sp>
      <p:sp>
        <p:nvSpPr>
          <p:cNvPr id="6" name="Shape 4"/>
          <p:cNvSpPr/>
          <p:nvPr>
            <p:custDataLst>
              <p:tags r:id="rId4"/>
            </p:custDataLst>
          </p:nvPr>
        </p:nvSpPr>
        <p:spPr>
          <a:xfrm>
            <a:off x="7457003" y="3356491"/>
            <a:ext cx="510302" cy="510302"/>
          </a:xfrm>
          <a:prstGeom prst="roundRect">
            <a:avLst>
              <a:gd name="adj" fmla="val 1792"/>
            </a:avLst>
          </a:prstGeom>
          <a:solidFill>
            <a:srgbClr val="F8ECE4"/>
          </a:solidFill>
          <a:ln w="7620">
            <a:solidFill>
              <a:srgbClr val="151617"/>
            </a:solidFill>
            <a:prstDash val="solid"/>
          </a:ln>
          <a:effectLst>
            <a:outerShdw dist="20320" dir="2700000" algn="bl" rotWithShape="0">
              <a:srgbClr val="151617">
                <a:alpha val="100000"/>
              </a:srgbClr>
            </a:outerShdw>
          </a:effectLst>
        </p:spPr>
      </p:sp>
      <p:sp>
        <p:nvSpPr>
          <p:cNvPr id="7" name="Text 5"/>
          <p:cNvSpPr/>
          <p:nvPr>
            <p:custDataLst>
              <p:tags r:id="rId5"/>
            </p:custDataLst>
          </p:nvPr>
        </p:nvSpPr>
        <p:spPr>
          <a:xfrm>
            <a:off x="8194119" y="3434358"/>
            <a:ext cx="3400544" cy="354330"/>
          </a:xfrm>
          <a:prstGeom prst="rect">
            <a:avLst/>
          </a:prstGeom>
          <a:noFill/>
        </p:spPr>
        <p:txBody>
          <a:bodyPr wrap="none" lIns="0" tIns="0" rIns="0" bIns="0" rtlCol="0" anchor="t"/>
          <a:lstStyle/>
          <a:p>
            <a:pPr marL="0" indent="0" algn="l">
              <a:lnSpc>
                <a:spcPts val="2750"/>
              </a:lnSpc>
              <a:buNone/>
            </a:pPr>
            <a:r>
              <a:rPr lang="ja-JP" altLang="en-US" sz="2200" b="1" dirty="0">
                <a:solidFill>
                  <a:srgbClr val="151617"/>
                </a:solidFill>
                <a:latin typeface="Montserrat Black" pitchFamily="34" charset="0"/>
                <a:ea typeface="Montserrat Black" pitchFamily="34" charset="-122"/>
                <a:cs typeface="Montserrat Black" pitchFamily="34" charset="-120"/>
              </a:rPr>
              <a:t>現代人</a:t>
            </a:r>
            <a:r>
              <a:rPr lang="en-US" sz="2200" b="1" dirty="0">
                <a:solidFill>
                  <a:srgbClr val="151617"/>
                </a:solidFill>
                <a:latin typeface="Montserrat Black" pitchFamily="34" charset="0"/>
                <a:ea typeface="Montserrat Black" pitchFamily="34" charset="-122"/>
                <a:cs typeface="Montserrat Black" pitchFamily="34" charset="-120"/>
              </a:rPr>
              <a:t>への死生観涵養</a:t>
            </a:r>
            <a:endParaRPr lang="en-US" sz="2200" dirty="0"/>
          </a:p>
        </p:txBody>
      </p:sp>
      <p:sp>
        <p:nvSpPr>
          <p:cNvPr id="8" name="Text 6"/>
          <p:cNvSpPr/>
          <p:nvPr>
            <p:custDataLst>
              <p:tags r:id="rId6"/>
            </p:custDataLst>
          </p:nvPr>
        </p:nvSpPr>
        <p:spPr>
          <a:xfrm>
            <a:off x="8194119" y="3924776"/>
            <a:ext cx="5642610" cy="362903"/>
          </a:xfrm>
          <a:prstGeom prst="rect">
            <a:avLst/>
          </a:prstGeom>
          <a:noFill/>
        </p:spPr>
        <p:txBody>
          <a:bodyPr wrap="none" lIns="0" tIns="0" rIns="0" bIns="0" rtlCol="0" anchor="t"/>
          <a:lstStyle/>
          <a:p>
            <a:pPr marL="0" indent="0" algn="l">
              <a:lnSpc>
                <a:spcPts val="2850"/>
              </a:lnSpc>
              <a:buNone/>
            </a:pPr>
            <a:r>
              <a:rPr lang="en-US" sz="1750" dirty="0">
                <a:solidFill>
                  <a:srgbClr val="151617"/>
                </a:solidFill>
                <a:latin typeface="Inconsolata" panose="00000509000000000000" pitchFamily="34" charset="0"/>
                <a:ea typeface="Inconsolata" panose="00000509000000000000" pitchFamily="34" charset="-122"/>
                <a:cs typeface="Inconsolata" panose="00000509000000000000" pitchFamily="34" charset="-120"/>
                <a:sym typeface="+mn-ea"/>
              </a:rPr>
              <a:t>現代人</a:t>
            </a:r>
            <a:r>
              <a:rPr lang="en-US" sz="1750" dirty="0">
                <a:solidFill>
                  <a:srgbClr val="151617"/>
                </a:solidFill>
                <a:latin typeface="Inconsolata" panose="00000509000000000000" pitchFamily="34" charset="0"/>
                <a:ea typeface="Inconsolata" panose="00000509000000000000" pitchFamily="34" charset="-122"/>
                <a:cs typeface="Inconsolata" panose="00000509000000000000" pitchFamily="34" charset="-120"/>
              </a:rPr>
              <a:t>への死生観涵養の必要性。</a:t>
            </a:r>
            <a:endParaRPr lang="en-US" sz="1750" dirty="0"/>
          </a:p>
        </p:txBody>
      </p:sp>
      <p:sp>
        <p:nvSpPr>
          <p:cNvPr id="9" name="Shape 7"/>
          <p:cNvSpPr/>
          <p:nvPr>
            <p:custDataLst>
              <p:tags r:id="rId7"/>
            </p:custDataLst>
          </p:nvPr>
        </p:nvSpPr>
        <p:spPr>
          <a:xfrm>
            <a:off x="793790" y="4741307"/>
            <a:ext cx="510302" cy="510302"/>
          </a:xfrm>
          <a:prstGeom prst="roundRect">
            <a:avLst>
              <a:gd name="adj" fmla="val 1792"/>
            </a:avLst>
          </a:prstGeom>
          <a:solidFill>
            <a:srgbClr val="F8ECE4"/>
          </a:solidFill>
          <a:ln w="7620">
            <a:solidFill>
              <a:srgbClr val="151617"/>
            </a:solidFill>
            <a:prstDash val="solid"/>
          </a:ln>
          <a:effectLst>
            <a:outerShdw dist="20320" dir="2700000" algn="bl" rotWithShape="0">
              <a:srgbClr val="151617">
                <a:alpha val="100000"/>
              </a:srgbClr>
            </a:outerShdw>
          </a:effectLst>
        </p:spPr>
      </p:sp>
      <p:sp>
        <p:nvSpPr>
          <p:cNvPr id="10" name="Text 8"/>
          <p:cNvSpPr/>
          <p:nvPr>
            <p:custDataLst>
              <p:tags r:id="rId8"/>
            </p:custDataLst>
          </p:nvPr>
        </p:nvSpPr>
        <p:spPr>
          <a:xfrm>
            <a:off x="1530906" y="4819174"/>
            <a:ext cx="2835235" cy="354330"/>
          </a:xfrm>
          <a:prstGeom prst="rect">
            <a:avLst/>
          </a:prstGeom>
          <a:noFill/>
        </p:spPr>
        <p:txBody>
          <a:bodyPr wrap="none" lIns="0" tIns="0" rIns="0" bIns="0" rtlCol="0" anchor="t"/>
          <a:lstStyle/>
          <a:p>
            <a:pPr marL="0" indent="0" algn="l">
              <a:lnSpc>
                <a:spcPts val="2750"/>
              </a:lnSpc>
              <a:buNone/>
            </a:pPr>
            <a:r>
              <a:rPr lang="en-US" sz="2200" b="1" dirty="0">
                <a:solidFill>
                  <a:srgbClr val="151617"/>
                </a:solidFill>
                <a:latin typeface="Montserrat Black" pitchFamily="34" charset="0"/>
                <a:ea typeface="Montserrat Black" pitchFamily="34" charset="-122"/>
                <a:cs typeface="Montserrat Black" pitchFamily="34" charset="-120"/>
              </a:rPr>
              <a:t>絵本の可能性</a:t>
            </a:r>
            <a:endParaRPr lang="en-US" sz="2200" dirty="0"/>
          </a:p>
        </p:txBody>
      </p:sp>
      <p:sp>
        <p:nvSpPr>
          <p:cNvPr id="11" name="Text 9"/>
          <p:cNvSpPr/>
          <p:nvPr>
            <p:custDataLst>
              <p:tags r:id="rId9"/>
            </p:custDataLst>
          </p:nvPr>
        </p:nvSpPr>
        <p:spPr>
          <a:xfrm>
            <a:off x="1530906" y="5309592"/>
            <a:ext cx="5642610" cy="362903"/>
          </a:xfrm>
          <a:prstGeom prst="rect">
            <a:avLst/>
          </a:prstGeom>
          <a:noFill/>
        </p:spPr>
        <p:txBody>
          <a:bodyPr wrap="none" lIns="0" tIns="0" rIns="0" bIns="0" rtlCol="0" anchor="t"/>
          <a:lstStyle/>
          <a:p>
            <a:pPr marL="0" indent="0" algn="l">
              <a:lnSpc>
                <a:spcPts val="2850"/>
              </a:lnSpc>
              <a:buNone/>
            </a:pPr>
            <a:r>
              <a:rPr lang="en-US" sz="1750" dirty="0">
                <a:solidFill>
                  <a:srgbClr val="151617"/>
                </a:solidFill>
                <a:latin typeface="Inconsolata" panose="00000509000000000000" pitchFamily="34" charset="0"/>
                <a:ea typeface="Inconsolata" panose="00000509000000000000" pitchFamily="34" charset="-122"/>
                <a:cs typeface="Inconsolata" panose="00000509000000000000" pitchFamily="34" charset="-120"/>
              </a:rPr>
              <a:t>絵本が持つ、死生観を伝える媒体としての可能性。</a:t>
            </a:r>
            <a:endParaRPr lang="en-US" sz="1750" dirty="0"/>
          </a:p>
        </p:txBody>
      </p:sp>
      <p:sp>
        <p:nvSpPr>
          <p:cNvPr id="12" name="Shape 10"/>
          <p:cNvSpPr/>
          <p:nvPr>
            <p:custDataLst>
              <p:tags r:id="rId10"/>
            </p:custDataLst>
          </p:nvPr>
        </p:nvSpPr>
        <p:spPr>
          <a:xfrm>
            <a:off x="7457003" y="4741307"/>
            <a:ext cx="510302" cy="510302"/>
          </a:xfrm>
          <a:prstGeom prst="roundRect">
            <a:avLst>
              <a:gd name="adj" fmla="val 1792"/>
            </a:avLst>
          </a:prstGeom>
          <a:solidFill>
            <a:srgbClr val="F8ECE4"/>
          </a:solidFill>
          <a:ln w="7620">
            <a:solidFill>
              <a:srgbClr val="151617"/>
            </a:solidFill>
            <a:prstDash val="solid"/>
          </a:ln>
          <a:effectLst>
            <a:outerShdw dist="20320" dir="2700000" algn="bl" rotWithShape="0">
              <a:srgbClr val="151617">
                <a:alpha val="100000"/>
              </a:srgbClr>
            </a:outerShdw>
          </a:effectLst>
        </p:spPr>
      </p:sp>
      <p:sp>
        <p:nvSpPr>
          <p:cNvPr id="13" name="Text 11"/>
          <p:cNvSpPr/>
          <p:nvPr>
            <p:custDataLst>
              <p:tags r:id="rId11"/>
            </p:custDataLst>
          </p:nvPr>
        </p:nvSpPr>
        <p:spPr>
          <a:xfrm>
            <a:off x="8194119" y="4819174"/>
            <a:ext cx="2835235" cy="354330"/>
          </a:xfrm>
          <a:prstGeom prst="rect">
            <a:avLst/>
          </a:prstGeom>
          <a:noFill/>
        </p:spPr>
        <p:txBody>
          <a:bodyPr wrap="none" lIns="0" tIns="0" rIns="0" bIns="0" rtlCol="0" anchor="t"/>
          <a:lstStyle/>
          <a:p>
            <a:pPr marL="0" indent="0" algn="l">
              <a:lnSpc>
                <a:spcPts val="2750"/>
              </a:lnSpc>
              <a:buNone/>
            </a:pPr>
            <a:r>
              <a:rPr lang="en-US" sz="2200" b="1" dirty="0">
                <a:solidFill>
                  <a:srgbClr val="151617"/>
                </a:solidFill>
                <a:latin typeface="Montserrat Black" pitchFamily="34" charset="0"/>
                <a:ea typeface="Montserrat Black" pitchFamily="34" charset="-122"/>
                <a:cs typeface="Montserrat Black" pitchFamily="34" charset="-120"/>
              </a:rPr>
              <a:t>研究目的</a:t>
            </a:r>
            <a:endParaRPr lang="en-US" sz="2200" dirty="0"/>
          </a:p>
        </p:txBody>
      </p:sp>
      <p:sp>
        <p:nvSpPr>
          <p:cNvPr id="14" name="Text 12"/>
          <p:cNvSpPr/>
          <p:nvPr>
            <p:custDataLst>
              <p:tags r:id="rId12"/>
            </p:custDataLst>
          </p:nvPr>
        </p:nvSpPr>
        <p:spPr>
          <a:xfrm>
            <a:off x="8194119" y="5309592"/>
            <a:ext cx="5642610" cy="725805"/>
          </a:xfrm>
          <a:prstGeom prst="rect">
            <a:avLst/>
          </a:prstGeom>
          <a:noFill/>
        </p:spPr>
        <p:txBody>
          <a:bodyPr wrap="square" lIns="0" tIns="0" rIns="0" bIns="0" rtlCol="0" anchor="t"/>
          <a:lstStyle/>
          <a:p>
            <a:pPr marL="0" indent="0" algn="l">
              <a:lnSpc>
                <a:spcPts val="2850"/>
              </a:lnSpc>
              <a:buNone/>
            </a:pPr>
            <a:r>
              <a:rPr lang="en-US" sz="1750" dirty="0">
                <a:solidFill>
                  <a:srgbClr val="151617"/>
                </a:solidFill>
                <a:latin typeface="Inconsolata" panose="00000509000000000000" pitchFamily="34" charset="0"/>
                <a:ea typeface="Inconsolata" panose="00000509000000000000" pitchFamily="34" charset="-122"/>
                <a:cs typeface="Inconsolata" panose="00000509000000000000" pitchFamily="34" charset="-120"/>
              </a:rPr>
              <a:t>本研究は『100万回生きたねこ』を通じ、その死生観表現の深層を探る。</a:t>
            </a:r>
            <a:endParaRPr lang="en-US" sz="17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57093" y="858917"/>
            <a:ext cx="3979664" cy="497443"/>
          </a:xfrm>
          <a:prstGeom prst="rect">
            <a:avLst/>
          </a:prstGeom>
          <a:noFill/>
        </p:spPr>
        <p:txBody>
          <a:bodyPr wrap="none" lIns="0" tIns="0" rIns="0" bIns="0" rtlCol="0" anchor="t"/>
          <a:lstStyle/>
          <a:p>
            <a:pPr marL="0" indent="0" algn="l">
              <a:lnSpc>
                <a:spcPts val="3900"/>
              </a:lnSpc>
              <a:buNone/>
            </a:pPr>
            <a:r>
              <a:rPr lang="en-US" sz="3100" b="1" dirty="0">
                <a:solidFill>
                  <a:srgbClr val="151617"/>
                </a:solidFill>
                <a:latin typeface="Montserrat Black" pitchFamily="34" charset="0"/>
                <a:ea typeface="Montserrat Black" pitchFamily="34" charset="-122"/>
                <a:cs typeface="Montserrat Black" pitchFamily="34" charset="-120"/>
              </a:rPr>
              <a:t>研究内容と切入点</a:t>
            </a:r>
            <a:endParaRPr lang="en-US" sz="3100" dirty="0"/>
          </a:p>
        </p:txBody>
      </p:sp>
      <p:pic>
        <p:nvPicPr>
          <p:cNvPr id="3" name="Image 0" descr="preencoded.png"/>
          <p:cNvPicPr>
            <a:picLocks noChangeAspect="1"/>
          </p:cNvPicPr>
          <p:nvPr/>
        </p:nvPicPr>
        <p:blipFill>
          <a:blip r:embed="rId1"/>
          <a:stretch>
            <a:fillRect/>
          </a:stretch>
        </p:blipFill>
        <p:spPr>
          <a:xfrm>
            <a:off x="2820948" y="1674733"/>
            <a:ext cx="2230160" cy="1872139"/>
          </a:xfrm>
          <a:prstGeom prst="rect">
            <a:avLst/>
          </a:prstGeom>
        </p:spPr>
      </p:pic>
      <p:pic>
        <p:nvPicPr>
          <p:cNvPr id="4" name="Image 1" descr="preencoded.png"/>
          <p:cNvPicPr>
            <a:picLocks noChangeAspect="1"/>
          </p:cNvPicPr>
          <p:nvPr/>
        </p:nvPicPr>
        <p:blipFill>
          <a:blip r:embed="rId2"/>
          <a:stretch>
            <a:fillRect/>
          </a:stretch>
        </p:blipFill>
        <p:spPr>
          <a:xfrm>
            <a:off x="3824049" y="2727841"/>
            <a:ext cx="223838" cy="279797"/>
          </a:xfrm>
          <a:prstGeom prst="rect">
            <a:avLst/>
          </a:prstGeom>
        </p:spPr>
      </p:pic>
      <p:sp>
        <p:nvSpPr>
          <p:cNvPr id="5" name="Text 1"/>
          <p:cNvSpPr/>
          <p:nvPr/>
        </p:nvSpPr>
        <p:spPr>
          <a:xfrm>
            <a:off x="5210294" y="2311360"/>
            <a:ext cx="1989772" cy="248603"/>
          </a:xfrm>
          <a:prstGeom prst="rect">
            <a:avLst/>
          </a:prstGeom>
          <a:noFill/>
        </p:spPr>
        <p:txBody>
          <a:bodyPr wrap="none" lIns="0" tIns="0" rIns="0" bIns="0" rtlCol="0" anchor="t"/>
          <a:lstStyle/>
          <a:p>
            <a:pPr marL="0" indent="0" algn="l">
              <a:lnSpc>
                <a:spcPts val="1950"/>
              </a:lnSpc>
              <a:buNone/>
            </a:pPr>
            <a:r>
              <a:rPr lang="en-US" sz="1550" b="1" dirty="0">
                <a:solidFill>
                  <a:srgbClr val="151617"/>
                </a:solidFill>
                <a:latin typeface="Montserrat Black" pitchFamily="34" charset="0"/>
                <a:ea typeface="Montserrat Black" pitchFamily="34" charset="-122"/>
                <a:cs typeface="Montserrat Black" pitchFamily="34" charset="-120"/>
              </a:rPr>
              <a:t>研究対象</a:t>
            </a:r>
            <a:endParaRPr lang="en-US" sz="1550" dirty="0"/>
          </a:p>
        </p:txBody>
      </p:sp>
      <p:sp>
        <p:nvSpPr>
          <p:cNvPr id="6" name="Text 2"/>
          <p:cNvSpPr/>
          <p:nvPr/>
        </p:nvSpPr>
        <p:spPr>
          <a:xfrm>
            <a:off x="5210294" y="2655451"/>
            <a:ext cx="2863215" cy="254675"/>
          </a:xfrm>
          <a:prstGeom prst="rect">
            <a:avLst/>
          </a:prstGeom>
          <a:noFill/>
        </p:spPr>
        <p:txBody>
          <a:bodyPr wrap="none" lIns="0" tIns="0" rIns="0" bIns="0" rtlCol="0" anchor="t"/>
          <a:lstStyle/>
          <a:p>
            <a:pPr marL="0" indent="0" algn="l">
              <a:lnSpc>
                <a:spcPts val="2000"/>
              </a:lnSpc>
              <a:buNone/>
            </a:pPr>
            <a:r>
              <a:rPr lang="en-US" sz="1250" dirty="0">
                <a:solidFill>
                  <a:srgbClr val="151617"/>
                </a:solidFill>
                <a:latin typeface="Inconsolata" panose="00000509000000000000" pitchFamily="34" charset="0"/>
                <a:ea typeface="Inconsolata" panose="00000509000000000000" pitchFamily="34" charset="-122"/>
                <a:cs typeface="Inconsolata" panose="00000509000000000000" pitchFamily="34" charset="-120"/>
              </a:rPr>
              <a:t>佐野洋子作 絵本『100万回生きたねこ』</a:t>
            </a:r>
            <a:endParaRPr lang="en-US" sz="1250" dirty="0"/>
          </a:p>
        </p:txBody>
      </p:sp>
      <p:sp>
        <p:nvSpPr>
          <p:cNvPr id="7" name="Shape 3"/>
          <p:cNvSpPr/>
          <p:nvPr/>
        </p:nvSpPr>
        <p:spPr>
          <a:xfrm>
            <a:off x="5090874" y="3557230"/>
            <a:ext cx="8942665" cy="11430"/>
          </a:xfrm>
          <a:prstGeom prst="roundRect">
            <a:avLst>
              <a:gd name="adj" fmla="val 80000"/>
            </a:avLst>
          </a:prstGeom>
          <a:solidFill>
            <a:srgbClr val="151617"/>
          </a:solidFill>
        </p:spPr>
      </p:sp>
      <p:pic>
        <p:nvPicPr>
          <p:cNvPr id="8" name="Image 2" descr="preencoded.png"/>
          <p:cNvPicPr>
            <a:picLocks noChangeAspect="1"/>
          </p:cNvPicPr>
          <p:nvPr/>
        </p:nvPicPr>
        <p:blipFill>
          <a:blip r:embed="rId3"/>
          <a:stretch>
            <a:fillRect/>
          </a:stretch>
        </p:blipFill>
        <p:spPr>
          <a:xfrm>
            <a:off x="1705928" y="3586639"/>
            <a:ext cx="4460319" cy="1872139"/>
          </a:xfrm>
          <a:prstGeom prst="rect">
            <a:avLst/>
          </a:prstGeom>
        </p:spPr>
      </p:pic>
      <p:pic>
        <p:nvPicPr>
          <p:cNvPr id="9" name="Image 3" descr="preencoded.png"/>
          <p:cNvPicPr>
            <a:picLocks noChangeAspect="1"/>
          </p:cNvPicPr>
          <p:nvPr/>
        </p:nvPicPr>
        <p:blipFill>
          <a:blip r:embed="rId4"/>
          <a:stretch>
            <a:fillRect/>
          </a:stretch>
        </p:blipFill>
        <p:spPr>
          <a:xfrm>
            <a:off x="3824049" y="4382810"/>
            <a:ext cx="223838" cy="279797"/>
          </a:xfrm>
          <a:prstGeom prst="rect">
            <a:avLst/>
          </a:prstGeom>
        </p:spPr>
      </p:pic>
      <p:sp>
        <p:nvSpPr>
          <p:cNvPr id="10" name="Text 4"/>
          <p:cNvSpPr/>
          <p:nvPr/>
        </p:nvSpPr>
        <p:spPr>
          <a:xfrm>
            <a:off x="6325433" y="4223266"/>
            <a:ext cx="1989772" cy="248603"/>
          </a:xfrm>
          <a:prstGeom prst="rect">
            <a:avLst/>
          </a:prstGeom>
          <a:noFill/>
        </p:spPr>
        <p:txBody>
          <a:bodyPr wrap="none" lIns="0" tIns="0" rIns="0" bIns="0" rtlCol="0" anchor="t"/>
          <a:lstStyle/>
          <a:p>
            <a:pPr marL="0" indent="0" algn="l">
              <a:lnSpc>
                <a:spcPts val="1950"/>
              </a:lnSpc>
              <a:buNone/>
            </a:pPr>
            <a:r>
              <a:rPr lang="en-US" sz="1550" b="1" dirty="0">
                <a:solidFill>
                  <a:srgbClr val="151617"/>
                </a:solidFill>
                <a:latin typeface="Montserrat Black" pitchFamily="34" charset="0"/>
                <a:ea typeface="Montserrat Black" pitchFamily="34" charset="-122"/>
                <a:cs typeface="Montserrat Black" pitchFamily="34" charset="-120"/>
              </a:rPr>
              <a:t>核心的問題</a:t>
            </a:r>
            <a:endParaRPr lang="en-US" sz="1550" dirty="0"/>
          </a:p>
        </p:txBody>
      </p:sp>
      <p:sp>
        <p:nvSpPr>
          <p:cNvPr id="11" name="Text 5"/>
          <p:cNvSpPr/>
          <p:nvPr/>
        </p:nvSpPr>
        <p:spPr>
          <a:xfrm>
            <a:off x="6325433" y="4567357"/>
            <a:ext cx="7473077" cy="254675"/>
          </a:xfrm>
          <a:prstGeom prst="rect">
            <a:avLst/>
          </a:prstGeom>
          <a:noFill/>
        </p:spPr>
        <p:txBody>
          <a:bodyPr wrap="none" lIns="0" tIns="0" rIns="0" bIns="0" rtlCol="0" anchor="t"/>
          <a:lstStyle/>
          <a:p>
            <a:pPr marL="0" indent="0" algn="l">
              <a:lnSpc>
                <a:spcPts val="2000"/>
              </a:lnSpc>
              <a:buNone/>
            </a:pPr>
            <a:r>
              <a:rPr lang="en-US" sz="1250" dirty="0">
                <a:solidFill>
                  <a:srgbClr val="151617"/>
                </a:solidFill>
                <a:latin typeface="Inconsolata" panose="00000509000000000000" pitchFamily="34" charset="0"/>
                <a:ea typeface="Inconsolata" panose="00000509000000000000" pitchFamily="34" charset="-122"/>
                <a:cs typeface="Inconsolata" panose="00000509000000000000" pitchFamily="34" charset="-120"/>
              </a:rPr>
              <a:t>主人公の猫の死生観は、物語を通じてどのように変容し、最終的にどのような死生観が提示されるのか。</a:t>
            </a:r>
            <a:endParaRPr lang="en-US" sz="1250" dirty="0"/>
          </a:p>
        </p:txBody>
      </p:sp>
      <p:sp>
        <p:nvSpPr>
          <p:cNvPr id="12" name="Shape 6"/>
          <p:cNvSpPr/>
          <p:nvPr/>
        </p:nvSpPr>
        <p:spPr>
          <a:xfrm>
            <a:off x="6206014" y="5469136"/>
            <a:ext cx="7827526" cy="11430"/>
          </a:xfrm>
          <a:prstGeom prst="roundRect">
            <a:avLst>
              <a:gd name="adj" fmla="val 80000"/>
            </a:avLst>
          </a:prstGeom>
          <a:solidFill>
            <a:srgbClr val="151617"/>
          </a:solidFill>
        </p:spPr>
      </p:sp>
      <p:pic>
        <p:nvPicPr>
          <p:cNvPr id="13" name="Image 4" descr="preencoded.png"/>
          <p:cNvPicPr>
            <a:picLocks noChangeAspect="1"/>
          </p:cNvPicPr>
          <p:nvPr/>
        </p:nvPicPr>
        <p:blipFill>
          <a:blip r:embed="rId5"/>
          <a:stretch>
            <a:fillRect/>
          </a:stretch>
        </p:blipFill>
        <p:spPr>
          <a:xfrm>
            <a:off x="590788" y="5498544"/>
            <a:ext cx="6690479" cy="1872139"/>
          </a:xfrm>
          <a:prstGeom prst="rect">
            <a:avLst/>
          </a:prstGeom>
        </p:spPr>
      </p:pic>
      <p:pic>
        <p:nvPicPr>
          <p:cNvPr id="14" name="Image 5" descr="preencoded.png"/>
          <p:cNvPicPr>
            <a:picLocks noChangeAspect="1"/>
          </p:cNvPicPr>
          <p:nvPr/>
        </p:nvPicPr>
        <p:blipFill>
          <a:blip r:embed="rId6"/>
          <a:stretch>
            <a:fillRect/>
          </a:stretch>
        </p:blipFill>
        <p:spPr>
          <a:xfrm>
            <a:off x="3824049" y="6294715"/>
            <a:ext cx="223838" cy="279797"/>
          </a:xfrm>
          <a:prstGeom prst="rect">
            <a:avLst/>
          </a:prstGeom>
        </p:spPr>
      </p:pic>
      <p:sp>
        <p:nvSpPr>
          <p:cNvPr id="15" name="Text 7"/>
          <p:cNvSpPr/>
          <p:nvPr/>
        </p:nvSpPr>
        <p:spPr>
          <a:xfrm>
            <a:off x="7440454" y="5657731"/>
            <a:ext cx="1989772" cy="248603"/>
          </a:xfrm>
          <a:prstGeom prst="rect">
            <a:avLst/>
          </a:prstGeom>
          <a:noFill/>
        </p:spPr>
        <p:txBody>
          <a:bodyPr wrap="none" lIns="0" tIns="0" rIns="0" bIns="0" rtlCol="0" anchor="t"/>
          <a:lstStyle/>
          <a:p>
            <a:pPr marL="0" indent="0" algn="l">
              <a:lnSpc>
                <a:spcPts val="1950"/>
              </a:lnSpc>
              <a:buNone/>
            </a:pPr>
            <a:r>
              <a:rPr lang="en-US" sz="1550" b="1" dirty="0">
                <a:solidFill>
                  <a:srgbClr val="151617"/>
                </a:solidFill>
                <a:latin typeface="Montserrat Black" pitchFamily="34" charset="0"/>
                <a:ea typeface="Montserrat Black" pitchFamily="34" charset="-122"/>
                <a:cs typeface="Montserrat Black" pitchFamily="34" charset="-120"/>
              </a:rPr>
              <a:t>切入点</a:t>
            </a:r>
            <a:endParaRPr lang="en-US" sz="1550" dirty="0"/>
          </a:p>
        </p:txBody>
      </p:sp>
      <p:sp>
        <p:nvSpPr>
          <p:cNvPr id="16" name="Text 8"/>
          <p:cNvSpPr/>
          <p:nvPr/>
        </p:nvSpPr>
        <p:spPr>
          <a:xfrm>
            <a:off x="7440454" y="6001822"/>
            <a:ext cx="6473666" cy="254675"/>
          </a:xfrm>
          <a:prstGeom prst="rect">
            <a:avLst/>
          </a:prstGeom>
          <a:noFill/>
        </p:spPr>
        <p:txBody>
          <a:bodyPr wrap="none" lIns="0" tIns="0" rIns="0" bIns="0" rtlCol="0" anchor="t"/>
          <a:lstStyle/>
          <a:p>
            <a:pPr marL="0" indent="0" algn="l">
              <a:lnSpc>
                <a:spcPts val="2000"/>
              </a:lnSpc>
              <a:buNone/>
            </a:pPr>
            <a:r>
              <a:rPr lang="en-US" sz="1250" dirty="0">
                <a:solidFill>
                  <a:srgbClr val="151617"/>
                </a:solidFill>
                <a:latin typeface="Inconsolata" panose="00000509000000000000" pitchFamily="34" charset="0"/>
                <a:ea typeface="Inconsolata" panose="00000509000000000000" pitchFamily="34" charset="-122"/>
                <a:cs typeface="Inconsolata" panose="00000509000000000000" pitchFamily="34" charset="-120"/>
              </a:rPr>
              <a:t>猫の「100万回の無意味な生と死」から「一度きりの意味ある生と死」への転換。</a:t>
            </a:r>
            <a:endParaRPr lang="en-US" sz="1250" dirty="0"/>
          </a:p>
        </p:txBody>
      </p:sp>
      <p:sp>
        <p:nvSpPr>
          <p:cNvPr id="17" name="Text 9"/>
          <p:cNvSpPr/>
          <p:nvPr/>
        </p:nvSpPr>
        <p:spPr>
          <a:xfrm>
            <a:off x="7440454" y="6351984"/>
            <a:ext cx="6473666" cy="254675"/>
          </a:xfrm>
          <a:prstGeom prst="rect">
            <a:avLst/>
          </a:prstGeom>
          <a:noFill/>
        </p:spPr>
        <p:txBody>
          <a:bodyPr wrap="none" lIns="0" tIns="0" rIns="0" bIns="0" rtlCol="0" anchor="t"/>
          <a:lstStyle/>
          <a:p>
            <a:pPr marL="0" indent="0" algn="l">
              <a:lnSpc>
                <a:spcPts val="2000"/>
              </a:lnSpc>
              <a:buNone/>
            </a:pPr>
            <a:r>
              <a:rPr lang="en-US" sz="1250" dirty="0">
                <a:solidFill>
                  <a:srgbClr val="151617"/>
                </a:solidFill>
                <a:latin typeface="Inconsolata" panose="00000509000000000000" pitchFamily="34" charset="0"/>
                <a:ea typeface="Inconsolata" panose="00000509000000000000" pitchFamily="34" charset="-122"/>
                <a:cs typeface="Inconsolata" panose="00000509000000000000" pitchFamily="34" charset="-120"/>
              </a:rPr>
              <a:t>「愛」という経験が死生観変容に与える決定的影響。</a:t>
            </a:r>
            <a:endParaRPr lang="en-US" sz="1250" dirty="0"/>
          </a:p>
        </p:txBody>
      </p:sp>
      <p:sp>
        <p:nvSpPr>
          <p:cNvPr id="18" name="Text 10"/>
          <p:cNvSpPr/>
          <p:nvPr/>
        </p:nvSpPr>
        <p:spPr>
          <a:xfrm>
            <a:off x="7440454" y="6702147"/>
            <a:ext cx="6473666" cy="509349"/>
          </a:xfrm>
          <a:prstGeom prst="rect">
            <a:avLst/>
          </a:prstGeom>
          <a:noFill/>
        </p:spPr>
        <p:txBody>
          <a:bodyPr wrap="square" lIns="0" tIns="0" rIns="0" bIns="0" rtlCol="0" anchor="t"/>
          <a:lstStyle/>
          <a:p>
            <a:pPr marL="0" indent="0" algn="l">
              <a:lnSpc>
                <a:spcPts val="2000"/>
              </a:lnSpc>
              <a:buNone/>
            </a:pPr>
            <a:r>
              <a:rPr lang="en-US" sz="1250" dirty="0">
                <a:solidFill>
                  <a:srgbClr val="151617"/>
                </a:solidFill>
                <a:latin typeface="Inconsolata" panose="00000509000000000000" pitchFamily="34" charset="0"/>
                <a:ea typeface="Inconsolata" panose="00000509000000000000" pitchFamily="34" charset="-122"/>
                <a:cs typeface="Inconsolata" panose="00000509000000000000" pitchFamily="34" charset="-120"/>
              </a:rPr>
              <a:t>図像分析（色彩、構図、視点等）とテキスト分析（語り、反復、セリフ等）の統合的考察。</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71049" y="606743"/>
            <a:ext cx="5507474" cy="688419"/>
          </a:xfrm>
          <a:prstGeom prst="rect">
            <a:avLst/>
          </a:prstGeom>
          <a:noFill/>
        </p:spPr>
        <p:txBody>
          <a:bodyPr wrap="none" lIns="0" tIns="0" rIns="0" bIns="0" rtlCol="0" anchor="t"/>
          <a:lstStyle/>
          <a:p>
            <a:pPr marL="0" indent="0" algn="l">
              <a:lnSpc>
                <a:spcPts val="5400"/>
              </a:lnSpc>
              <a:buNone/>
            </a:pPr>
            <a:r>
              <a:rPr lang="ja-JP" altLang="en-US" sz="4300" b="1" dirty="0">
                <a:solidFill>
                  <a:srgbClr val="151617"/>
                </a:solidFill>
                <a:latin typeface="Montserrat Black" pitchFamily="34" charset="0"/>
                <a:ea typeface="Montserrat Black" pitchFamily="34" charset="-122"/>
                <a:cs typeface="Montserrat Black" pitchFamily="34" charset="-120"/>
              </a:rPr>
              <a:t>研究</a:t>
            </a:r>
            <a:r>
              <a:rPr lang="en-US" sz="4300" b="1" dirty="0">
                <a:solidFill>
                  <a:srgbClr val="151617"/>
                </a:solidFill>
                <a:latin typeface="Montserrat Black" pitchFamily="34" charset="0"/>
                <a:ea typeface="Montserrat Black" pitchFamily="34" charset="-122"/>
                <a:cs typeface="Montserrat Black" pitchFamily="34" charset="-120"/>
              </a:rPr>
              <a:t>方法</a:t>
            </a:r>
            <a:endParaRPr lang="en-US" sz="4300" dirty="0"/>
          </a:p>
        </p:txBody>
      </p:sp>
      <p:pic>
        <p:nvPicPr>
          <p:cNvPr id="3" name="Image 0" descr="preencoded.png"/>
          <p:cNvPicPr>
            <a:picLocks noChangeAspect="1"/>
          </p:cNvPicPr>
          <p:nvPr/>
        </p:nvPicPr>
        <p:blipFill>
          <a:blip r:embed="rId1"/>
          <a:stretch>
            <a:fillRect/>
          </a:stretch>
        </p:blipFill>
        <p:spPr>
          <a:xfrm>
            <a:off x="771049" y="1735693"/>
            <a:ext cx="1101447" cy="1321713"/>
          </a:xfrm>
          <a:prstGeom prst="rect">
            <a:avLst/>
          </a:prstGeom>
        </p:spPr>
      </p:pic>
      <p:sp>
        <p:nvSpPr>
          <p:cNvPr id="4" name="Text 1"/>
          <p:cNvSpPr/>
          <p:nvPr>
            <p:custDataLst>
              <p:tags r:id="rId2"/>
            </p:custDataLst>
          </p:nvPr>
        </p:nvSpPr>
        <p:spPr>
          <a:xfrm>
            <a:off x="2202894" y="1955959"/>
            <a:ext cx="2753678" cy="344210"/>
          </a:xfrm>
          <a:prstGeom prst="rect">
            <a:avLst/>
          </a:prstGeom>
          <a:noFill/>
        </p:spPr>
        <p:txBody>
          <a:bodyPr wrap="none" lIns="0" tIns="0" rIns="0" bIns="0" rtlCol="0" anchor="t"/>
          <a:lstStyle/>
          <a:p>
            <a:pPr marL="0" indent="0" algn="l">
              <a:lnSpc>
                <a:spcPts val="2700"/>
              </a:lnSpc>
              <a:buNone/>
            </a:pPr>
            <a:r>
              <a:rPr lang="en-US" sz="2150" b="1" dirty="0">
                <a:solidFill>
                  <a:srgbClr val="151617"/>
                </a:solidFill>
                <a:latin typeface="Montserrat Black" pitchFamily="34" charset="0"/>
                <a:ea typeface="Montserrat Black" pitchFamily="34" charset="-122"/>
                <a:cs typeface="Montserrat Black" pitchFamily="34" charset="-120"/>
              </a:rPr>
              <a:t>文献研究法</a:t>
            </a:r>
            <a:endParaRPr lang="en-US" sz="2150" dirty="0"/>
          </a:p>
        </p:txBody>
      </p:sp>
      <p:sp>
        <p:nvSpPr>
          <p:cNvPr id="5" name="Text 2"/>
          <p:cNvSpPr/>
          <p:nvPr>
            <p:custDataLst>
              <p:tags r:id="rId3"/>
            </p:custDataLst>
          </p:nvPr>
        </p:nvSpPr>
        <p:spPr>
          <a:xfrm>
            <a:off x="2202894" y="2432328"/>
            <a:ext cx="11656457" cy="352425"/>
          </a:xfrm>
          <a:prstGeom prst="rect">
            <a:avLst/>
          </a:prstGeom>
          <a:noFill/>
        </p:spPr>
        <p:txBody>
          <a:bodyPr wrap="none" lIns="0" tIns="0" rIns="0" bIns="0" rtlCol="0" anchor="t"/>
          <a:lstStyle/>
          <a:p>
            <a:pPr marL="0" indent="0" algn="l">
              <a:lnSpc>
                <a:spcPts val="2750"/>
              </a:lnSpc>
              <a:buNone/>
            </a:pPr>
            <a:r>
              <a:rPr lang="en-US" sz="1700" dirty="0">
                <a:solidFill>
                  <a:srgbClr val="151617"/>
                </a:solidFill>
                <a:latin typeface="Inconsolata" panose="00000509000000000000" pitchFamily="34" charset="0"/>
                <a:ea typeface="Inconsolata" panose="00000509000000000000" pitchFamily="34" charset="-122"/>
                <a:cs typeface="Inconsolata" panose="00000509000000000000" pitchFamily="34" charset="-120"/>
              </a:rPr>
              <a:t>死生観、絵本研究、佐野洋子論に関する先行研究の整理・分析。</a:t>
            </a:r>
            <a:endParaRPr lang="en-US" sz="1700" dirty="0"/>
          </a:p>
        </p:txBody>
      </p:sp>
      <p:pic>
        <p:nvPicPr>
          <p:cNvPr id="6" name="Image 1" descr="preencoded.png"/>
          <p:cNvPicPr>
            <a:picLocks noChangeAspect="1"/>
          </p:cNvPicPr>
          <p:nvPr/>
        </p:nvPicPr>
        <p:blipFill>
          <a:blip r:embed="rId4"/>
          <a:stretch>
            <a:fillRect/>
          </a:stretch>
        </p:blipFill>
        <p:spPr>
          <a:xfrm>
            <a:off x="771049" y="3057406"/>
            <a:ext cx="1101447" cy="1321713"/>
          </a:xfrm>
          <a:prstGeom prst="rect">
            <a:avLst/>
          </a:prstGeom>
        </p:spPr>
      </p:pic>
      <p:sp>
        <p:nvSpPr>
          <p:cNvPr id="7" name="Text 3"/>
          <p:cNvSpPr/>
          <p:nvPr>
            <p:custDataLst>
              <p:tags r:id="rId5"/>
            </p:custDataLst>
          </p:nvPr>
        </p:nvSpPr>
        <p:spPr>
          <a:xfrm>
            <a:off x="2202894" y="3277672"/>
            <a:ext cx="2753678" cy="344210"/>
          </a:xfrm>
          <a:prstGeom prst="rect">
            <a:avLst/>
          </a:prstGeom>
          <a:noFill/>
        </p:spPr>
        <p:txBody>
          <a:bodyPr wrap="none" lIns="0" tIns="0" rIns="0" bIns="0" rtlCol="0" anchor="t"/>
          <a:lstStyle/>
          <a:p>
            <a:pPr marL="0" indent="0" algn="l">
              <a:lnSpc>
                <a:spcPts val="2700"/>
              </a:lnSpc>
              <a:buNone/>
            </a:pPr>
            <a:r>
              <a:rPr lang="en-US" sz="2150" b="1" dirty="0">
                <a:solidFill>
                  <a:srgbClr val="151617"/>
                </a:solidFill>
                <a:latin typeface="Montserrat Black" pitchFamily="34" charset="0"/>
                <a:ea typeface="Montserrat Black" pitchFamily="34" charset="-122"/>
                <a:cs typeface="Montserrat Black" pitchFamily="34" charset="-120"/>
              </a:rPr>
              <a:t>テキスト分析法</a:t>
            </a:r>
            <a:endParaRPr lang="en-US" sz="2150" dirty="0"/>
          </a:p>
        </p:txBody>
      </p:sp>
      <p:sp>
        <p:nvSpPr>
          <p:cNvPr id="8" name="Text 4"/>
          <p:cNvSpPr/>
          <p:nvPr>
            <p:custDataLst>
              <p:tags r:id="rId6"/>
            </p:custDataLst>
          </p:nvPr>
        </p:nvSpPr>
        <p:spPr>
          <a:xfrm>
            <a:off x="2202894" y="3754041"/>
            <a:ext cx="11656457" cy="352425"/>
          </a:xfrm>
          <a:prstGeom prst="rect">
            <a:avLst/>
          </a:prstGeom>
          <a:noFill/>
        </p:spPr>
        <p:txBody>
          <a:bodyPr wrap="none" lIns="0" tIns="0" rIns="0" bIns="0" rtlCol="0" anchor="t"/>
          <a:lstStyle/>
          <a:p>
            <a:pPr marL="0" indent="0" algn="l">
              <a:lnSpc>
                <a:spcPts val="2750"/>
              </a:lnSpc>
              <a:buNone/>
            </a:pPr>
            <a:r>
              <a:rPr lang="en-US" sz="1700" dirty="0">
                <a:solidFill>
                  <a:srgbClr val="151617"/>
                </a:solidFill>
                <a:latin typeface="Inconsolata" panose="00000509000000000000" pitchFamily="34" charset="0"/>
                <a:ea typeface="Inconsolata" panose="00000509000000000000" pitchFamily="34" charset="-122"/>
                <a:cs typeface="Inconsolata" panose="00000509000000000000" pitchFamily="34" charset="-120"/>
              </a:rPr>
              <a:t>物語構造、語り口、反復表現、感情描写、登場人物のセリフ等を詳細に分析。</a:t>
            </a:r>
            <a:endParaRPr lang="en-US" sz="1700" dirty="0"/>
          </a:p>
        </p:txBody>
      </p:sp>
      <p:pic>
        <p:nvPicPr>
          <p:cNvPr id="12" name="Image 3" descr="preencoded.png"/>
          <p:cNvPicPr>
            <a:picLocks noChangeAspect="1"/>
          </p:cNvPicPr>
          <p:nvPr/>
        </p:nvPicPr>
        <p:blipFill>
          <a:blip r:embed="rId7"/>
          <a:stretch>
            <a:fillRect/>
          </a:stretch>
        </p:blipFill>
        <p:spPr>
          <a:xfrm>
            <a:off x="771049" y="4378762"/>
            <a:ext cx="1101447" cy="1321713"/>
          </a:xfrm>
          <a:prstGeom prst="rect">
            <a:avLst/>
          </a:prstGeom>
        </p:spPr>
      </p:pic>
      <p:sp>
        <p:nvSpPr>
          <p:cNvPr id="13" name="Text 7"/>
          <p:cNvSpPr/>
          <p:nvPr>
            <p:custDataLst>
              <p:tags r:id="rId8"/>
            </p:custDataLst>
          </p:nvPr>
        </p:nvSpPr>
        <p:spPr>
          <a:xfrm>
            <a:off x="2202894" y="4418687"/>
            <a:ext cx="2753678" cy="344210"/>
          </a:xfrm>
          <a:prstGeom prst="rect">
            <a:avLst/>
          </a:prstGeom>
          <a:noFill/>
        </p:spPr>
        <p:txBody>
          <a:bodyPr wrap="none" lIns="0" tIns="0" rIns="0" bIns="0" rtlCol="0" anchor="t"/>
          <a:lstStyle/>
          <a:p>
            <a:pPr marL="0" indent="0" algn="l">
              <a:lnSpc>
                <a:spcPts val="2700"/>
              </a:lnSpc>
              <a:buNone/>
            </a:pPr>
            <a:r>
              <a:rPr lang="en-US" sz="2150" b="1" dirty="0">
                <a:solidFill>
                  <a:srgbClr val="151617"/>
                </a:solidFill>
                <a:latin typeface="Montserrat Black" pitchFamily="34" charset="0"/>
                <a:ea typeface="Montserrat Black" pitchFamily="34" charset="-122"/>
                <a:cs typeface="Montserrat Black" pitchFamily="34" charset="-120"/>
              </a:rPr>
              <a:t>学際的研究法</a:t>
            </a:r>
            <a:endParaRPr lang="en-US" sz="2150" dirty="0"/>
          </a:p>
        </p:txBody>
      </p:sp>
      <p:sp>
        <p:nvSpPr>
          <p:cNvPr id="14" name="Text 8"/>
          <p:cNvSpPr/>
          <p:nvPr>
            <p:custDataLst>
              <p:tags r:id="rId9"/>
            </p:custDataLst>
          </p:nvPr>
        </p:nvSpPr>
        <p:spPr>
          <a:xfrm>
            <a:off x="2202894" y="4940141"/>
            <a:ext cx="11656457" cy="352425"/>
          </a:xfrm>
          <a:prstGeom prst="rect">
            <a:avLst/>
          </a:prstGeom>
          <a:noFill/>
        </p:spPr>
        <p:txBody>
          <a:bodyPr wrap="none" lIns="0" tIns="0" rIns="0" bIns="0" rtlCol="0" anchor="t"/>
          <a:lstStyle/>
          <a:p>
            <a:pPr marL="0" indent="0" algn="l">
              <a:lnSpc>
                <a:spcPts val="2750"/>
              </a:lnSpc>
              <a:buNone/>
            </a:pPr>
            <a:r>
              <a:rPr lang="en-US" sz="1700" dirty="0">
                <a:solidFill>
                  <a:srgbClr val="151617"/>
                </a:solidFill>
                <a:latin typeface="Inconsolata" panose="00000509000000000000" pitchFamily="34" charset="0"/>
                <a:ea typeface="Inconsolata" panose="00000509000000000000" pitchFamily="34" charset="-122"/>
                <a:cs typeface="Inconsolata" panose="00000509000000000000" pitchFamily="34" charset="-120"/>
              </a:rPr>
              <a:t>実存主義哲学（カミュ、サルトル等）の概念を援用し、作品の死生観を多角的に解釈。</a:t>
            </a:r>
            <a:endParaRPr lang="en-US" sz="17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93790" y="1978700"/>
            <a:ext cx="6798112" cy="708779"/>
          </a:xfrm>
          <a:prstGeom prst="rect">
            <a:avLst/>
          </a:prstGeom>
          <a:noFill/>
        </p:spPr>
        <p:txBody>
          <a:bodyPr wrap="none" lIns="0" tIns="0" rIns="0" bIns="0" rtlCol="0" anchor="t"/>
          <a:lstStyle/>
          <a:p>
            <a:pPr marL="0" indent="0" algn="l">
              <a:lnSpc>
                <a:spcPts val="5550"/>
              </a:lnSpc>
              <a:buNone/>
            </a:pPr>
            <a:r>
              <a:rPr lang="en-US" sz="4450" b="1" dirty="0">
                <a:solidFill>
                  <a:srgbClr val="151617"/>
                </a:solidFill>
                <a:latin typeface="Montserrat Black" pitchFamily="34" charset="0"/>
                <a:ea typeface="Montserrat Black" pitchFamily="34" charset="-122"/>
                <a:cs typeface="Montserrat Black" pitchFamily="34" charset="-120"/>
              </a:rPr>
              <a:t>創新点／先行研究との差異</a:t>
            </a:r>
            <a:endParaRPr lang="en-US" sz="4450" dirty="0"/>
          </a:p>
        </p:txBody>
      </p:sp>
      <p:sp>
        <p:nvSpPr>
          <p:cNvPr id="3" name="Text 1"/>
          <p:cNvSpPr/>
          <p:nvPr/>
        </p:nvSpPr>
        <p:spPr>
          <a:xfrm>
            <a:off x="793790" y="3254454"/>
            <a:ext cx="2835235" cy="354330"/>
          </a:xfrm>
          <a:prstGeom prst="rect">
            <a:avLst/>
          </a:prstGeom>
          <a:noFill/>
        </p:spPr>
        <p:txBody>
          <a:bodyPr wrap="none" lIns="0" tIns="0" rIns="0" bIns="0" rtlCol="0" anchor="t"/>
          <a:lstStyle/>
          <a:p>
            <a:pPr marL="0" indent="0" algn="l">
              <a:lnSpc>
                <a:spcPts val="2750"/>
              </a:lnSpc>
              <a:buNone/>
            </a:pPr>
            <a:r>
              <a:rPr lang="en-US" sz="2200" b="1" dirty="0">
                <a:solidFill>
                  <a:srgbClr val="151617"/>
                </a:solidFill>
                <a:latin typeface="Montserrat Black" pitchFamily="34" charset="0"/>
                <a:ea typeface="Montserrat Black" pitchFamily="34" charset="-122"/>
                <a:cs typeface="Montserrat Black" pitchFamily="34" charset="-120"/>
              </a:rPr>
              <a:t>先行研究の傾向</a:t>
            </a:r>
            <a:endParaRPr lang="en-US" sz="2200" dirty="0"/>
          </a:p>
        </p:txBody>
      </p:sp>
      <p:sp>
        <p:nvSpPr>
          <p:cNvPr id="4" name="Text 2"/>
          <p:cNvSpPr/>
          <p:nvPr/>
        </p:nvSpPr>
        <p:spPr>
          <a:xfrm>
            <a:off x="793790" y="3835598"/>
            <a:ext cx="6244709" cy="362903"/>
          </a:xfrm>
          <a:prstGeom prst="rect">
            <a:avLst/>
          </a:prstGeom>
          <a:noFill/>
        </p:spPr>
        <p:txBody>
          <a:bodyPr wrap="none" lIns="0" tIns="0" rIns="0" bIns="0" rtlCol="0" anchor="t"/>
          <a:lstStyle/>
          <a:p>
            <a:pPr marL="0" indent="0" algn="l">
              <a:lnSpc>
                <a:spcPts val="2850"/>
              </a:lnSpc>
              <a:buNone/>
            </a:pPr>
            <a:r>
              <a:rPr lang="en-US" sz="1750" dirty="0">
                <a:solidFill>
                  <a:srgbClr val="151617"/>
                </a:solidFill>
                <a:latin typeface="Inconsolata" panose="00000509000000000000" pitchFamily="34" charset="0"/>
                <a:ea typeface="Inconsolata" panose="00000509000000000000" pitchFamily="34" charset="-122"/>
                <a:cs typeface="Inconsolata" panose="00000509000000000000" pitchFamily="34" charset="-120"/>
              </a:rPr>
              <a:t>先行研究の多くは物語のテーマ性や教育的側面に注目。</a:t>
            </a:r>
            <a:endParaRPr lang="en-US" sz="1750" dirty="0"/>
          </a:p>
        </p:txBody>
      </p:sp>
      <p:sp>
        <p:nvSpPr>
          <p:cNvPr id="5" name="Text 3"/>
          <p:cNvSpPr/>
          <p:nvPr/>
        </p:nvSpPr>
        <p:spPr>
          <a:xfrm>
            <a:off x="7599521" y="3254454"/>
            <a:ext cx="2835235" cy="354330"/>
          </a:xfrm>
          <a:prstGeom prst="rect">
            <a:avLst/>
          </a:prstGeom>
          <a:noFill/>
        </p:spPr>
        <p:txBody>
          <a:bodyPr wrap="none" lIns="0" tIns="0" rIns="0" bIns="0" rtlCol="0" anchor="t"/>
          <a:lstStyle/>
          <a:p>
            <a:pPr marL="0" indent="0" algn="l">
              <a:lnSpc>
                <a:spcPts val="2750"/>
              </a:lnSpc>
              <a:buNone/>
            </a:pPr>
            <a:r>
              <a:rPr lang="en-US" sz="2200" b="1" dirty="0">
                <a:solidFill>
                  <a:srgbClr val="151617"/>
                </a:solidFill>
                <a:latin typeface="Montserrat Black" pitchFamily="34" charset="0"/>
                <a:ea typeface="Montserrat Black" pitchFamily="34" charset="-122"/>
                <a:cs typeface="Montserrat Black" pitchFamily="34" charset="-120"/>
              </a:rPr>
              <a:t>本研究の独自性</a:t>
            </a:r>
            <a:endParaRPr lang="en-US" sz="2200" dirty="0"/>
          </a:p>
        </p:txBody>
      </p:sp>
      <p:sp>
        <p:nvSpPr>
          <p:cNvPr id="6" name="Text 4"/>
          <p:cNvSpPr/>
          <p:nvPr/>
        </p:nvSpPr>
        <p:spPr>
          <a:xfrm>
            <a:off x="7599521" y="3835598"/>
            <a:ext cx="6244709" cy="725805"/>
          </a:xfrm>
          <a:prstGeom prst="rect">
            <a:avLst/>
          </a:prstGeom>
          <a:noFill/>
        </p:spPr>
        <p:txBody>
          <a:bodyPr wrap="square" lIns="0" tIns="0" rIns="0" bIns="0" rtlCol="0" anchor="t"/>
          <a:lstStyle/>
          <a:p>
            <a:pPr marL="342900" indent="-342900" algn="l">
              <a:lnSpc>
                <a:spcPts val="2850"/>
              </a:lnSpc>
              <a:buSzPct val="100000"/>
              <a:buChar char="•"/>
            </a:pPr>
            <a:r>
              <a:rPr lang="en-US" sz="1750" dirty="0">
                <a:solidFill>
                  <a:srgbClr val="151617"/>
                </a:solidFill>
                <a:latin typeface="Inconsolata" panose="00000509000000000000" pitchFamily="34" charset="0"/>
                <a:ea typeface="Inconsolata" panose="00000509000000000000" pitchFamily="34" charset="-122"/>
                <a:cs typeface="Inconsolata" panose="00000509000000000000" pitchFamily="34" charset="-120"/>
              </a:rPr>
              <a:t>図像と言葉の相互作用が、猫の死生観の段階的深化をどう効果的に描出しているかを具体的に解明。</a:t>
            </a:r>
            <a:endParaRPr lang="en-US" sz="1750" dirty="0"/>
          </a:p>
        </p:txBody>
      </p:sp>
      <p:sp>
        <p:nvSpPr>
          <p:cNvPr id="7" name="Text 5"/>
          <p:cNvSpPr/>
          <p:nvPr/>
        </p:nvSpPr>
        <p:spPr>
          <a:xfrm>
            <a:off x="7599521" y="4640699"/>
            <a:ext cx="6244709" cy="725805"/>
          </a:xfrm>
          <a:prstGeom prst="rect">
            <a:avLst/>
          </a:prstGeom>
          <a:noFill/>
        </p:spPr>
        <p:txBody>
          <a:bodyPr wrap="square" lIns="0" tIns="0" rIns="0" bIns="0" rtlCol="0" anchor="t"/>
          <a:lstStyle/>
          <a:p>
            <a:pPr marL="342900" indent="-342900" algn="l">
              <a:lnSpc>
                <a:spcPts val="2850"/>
              </a:lnSpc>
              <a:buSzPct val="100000"/>
              <a:buChar char="•"/>
            </a:pPr>
            <a:r>
              <a:rPr lang="en-US" sz="1750" dirty="0">
                <a:solidFill>
                  <a:srgbClr val="151617"/>
                </a:solidFill>
                <a:latin typeface="Inconsolata" panose="00000509000000000000" pitchFamily="34" charset="0"/>
                <a:ea typeface="Inconsolata" panose="00000509000000000000" pitchFamily="34" charset="-122"/>
                <a:cs typeface="Inconsolata" panose="00000509000000000000" pitchFamily="34" charset="-120"/>
              </a:rPr>
              <a:t>特に、色彩、視点の変化、反復表現のリズムなどが持つ意味を重視。</a:t>
            </a:r>
            <a:endParaRPr lang="en-US" sz="1750" dirty="0"/>
          </a:p>
        </p:txBody>
      </p:sp>
      <p:sp>
        <p:nvSpPr>
          <p:cNvPr id="8" name="Text 6"/>
          <p:cNvSpPr/>
          <p:nvPr/>
        </p:nvSpPr>
        <p:spPr>
          <a:xfrm>
            <a:off x="7599521" y="5445800"/>
            <a:ext cx="6244709" cy="725805"/>
          </a:xfrm>
          <a:prstGeom prst="rect">
            <a:avLst/>
          </a:prstGeom>
          <a:noFill/>
        </p:spPr>
        <p:txBody>
          <a:bodyPr wrap="square" lIns="0" tIns="0" rIns="0" bIns="0" rtlCol="0" anchor="t"/>
          <a:lstStyle/>
          <a:p>
            <a:pPr marL="342900" indent="-342900" algn="l">
              <a:lnSpc>
                <a:spcPts val="2850"/>
              </a:lnSpc>
              <a:buSzPct val="100000"/>
              <a:buChar char="•"/>
            </a:pPr>
            <a:r>
              <a:rPr lang="en-US" sz="1750" dirty="0">
                <a:solidFill>
                  <a:srgbClr val="151617"/>
                </a:solidFill>
                <a:latin typeface="Inconsolata" panose="00000509000000000000" pitchFamily="34" charset="0"/>
                <a:ea typeface="Inconsolata" panose="00000509000000000000" pitchFamily="34" charset="-122"/>
                <a:cs typeface="Inconsolata" panose="00000509000000000000" pitchFamily="34" charset="-120"/>
              </a:rPr>
              <a:t>実存主義思想との接続により、作品の哲学的射程をより深く考察。</a:t>
            </a:r>
            <a:endParaRPr lang="en-US" sz="17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93790" y="1704499"/>
            <a:ext cx="5670590" cy="708779"/>
          </a:xfrm>
          <a:prstGeom prst="rect">
            <a:avLst/>
          </a:prstGeom>
          <a:noFill/>
        </p:spPr>
        <p:txBody>
          <a:bodyPr wrap="none" lIns="0" tIns="0" rIns="0" bIns="0" rtlCol="0" anchor="t"/>
          <a:lstStyle/>
          <a:p>
            <a:pPr marL="0" indent="0" algn="l">
              <a:lnSpc>
                <a:spcPts val="5550"/>
              </a:lnSpc>
              <a:buNone/>
            </a:pPr>
            <a:r>
              <a:rPr lang="en-US" sz="4450" b="1" dirty="0">
                <a:solidFill>
                  <a:srgbClr val="151617"/>
                </a:solidFill>
                <a:latin typeface="Montserrat Black" pitchFamily="34" charset="0"/>
                <a:ea typeface="Montserrat Black" pitchFamily="34" charset="-122"/>
                <a:cs typeface="Montserrat Black" pitchFamily="34" charset="-120"/>
              </a:rPr>
              <a:t>結論と意義</a:t>
            </a:r>
            <a:endParaRPr lang="en-US" sz="4450" dirty="0"/>
          </a:p>
        </p:txBody>
      </p:sp>
      <p:sp>
        <p:nvSpPr>
          <p:cNvPr id="3" name="Shape 1"/>
          <p:cNvSpPr/>
          <p:nvPr/>
        </p:nvSpPr>
        <p:spPr>
          <a:xfrm>
            <a:off x="793790" y="2866906"/>
            <a:ext cx="6408063" cy="3658195"/>
          </a:xfrm>
          <a:prstGeom prst="roundRect">
            <a:avLst>
              <a:gd name="adj" fmla="val 250"/>
            </a:avLst>
          </a:prstGeom>
          <a:solidFill>
            <a:srgbClr val="F8ECE4"/>
          </a:solidFill>
          <a:ln w="7620">
            <a:solidFill>
              <a:srgbClr val="151617"/>
            </a:solidFill>
            <a:prstDash val="solid"/>
          </a:ln>
          <a:effectLst>
            <a:outerShdw dist="20320" dir="2700000" algn="bl" rotWithShape="0">
              <a:srgbClr val="151617">
                <a:alpha val="100000"/>
              </a:srgbClr>
            </a:outerShdw>
          </a:effectLst>
        </p:spPr>
      </p:sp>
      <p:sp>
        <p:nvSpPr>
          <p:cNvPr id="4" name="Text 2"/>
          <p:cNvSpPr/>
          <p:nvPr/>
        </p:nvSpPr>
        <p:spPr>
          <a:xfrm>
            <a:off x="1028224" y="3101340"/>
            <a:ext cx="2835235" cy="354330"/>
          </a:xfrm>
          <a:prstGeom prst="rect">
            <a:avLst/>
          </a:prstGeom>
          <a:noFill/>
        </p:spPr>
        <p:txBody>
          <a:bodyPr wrap="none" lIns="0" tIns="0" rIns="0" bIns="0" rtlCol="0" anchor="t"/>
          <a:lstStyle/>
          <a:p>
            <a:pPr marL="0" indent="0" algn="l">
              <a:lnSpc>
                <a:spcPts val="2750"/>
              </a:lnSpc>
              <a:buNone/>
            </a:pPr>
            <a:r>
              <a:rPr lang="en-US" sz="2200" b="1" dirty="0">
                <a:solidFill>
                  <a:srgbClr val="151617"/>
                </a:solidFill>
                <a:latin typeface="Montserrat Black" pitchFamily="34" charset="0"/>
                <a:ea typeface="Montserrat Black" pitchFamily="34" charset="-122"/>
                <a:cs typeface="Montserrat Black" pitchFamily="34" charset="-120"/>
              </a:rPr>
              <a:t>結論</a:t>
            </a:r>
            <a:endParaRPr lang="en-US" sz="2200" dirty="0"/>
          </a:p>
        </p:txBody>
      </p:sp>
      <p:sp>
        <p:nvSpPr>
          <p:cNvPr id="5" name="Text 3"/>
          <p:cNvSpPr/>
          <p:nvPr/>
        </p:nvSpPr>
        <p:spPr>
          <a:xfrm>
            <a:off x="1028224" y="3591758"/>
            <a:ext cx="5939195" cy="1088708"/>
          </a:xfrm>
          <a:prstGeom prst="rect">
            <a:avLst/>
          </a:prstGeom>
          <a:noFill/>
        </p:spPr>
        <p:txBody>
          <a:bodyPr wrap="square" lIns="0" tIns="0" rIns="0" bIns="0" rtlCol="0" anchor="t"/>
          <a:lstStyle/>
          <a:p>
            <a:pPr marL="342900" indent="-342900" algn="l">
              <a:lnSpc>
                <a:spcPts val="2850"/>
              </a:lnSpc>
              <a:buSzPct val="100000"/>
              <a:buFont typeface="+mj-lt"/>
              <a:buAutoNum type="arabicPeriod"/>
            </a:pPr>
            <a:r>
              <a:rPr lang="en-US" sz="1750" dirty="0">
                <a:solidFill>
                  <a:srgbClr val="151617"/>
                </a:solidFill>
                <a:latin typeface="Inconsolata" panose="00000509000000000000" pitchFamily="34" charset="0"/>
                <a:ea typeface="Inconsolata" panose="00000509000000000000" pitchFamily="34" charset="-122"/>
                <a:cs typeface="Inconsolata" panose="00000509000000000000" pitchFamily="34" charset="-120"/>
              </a:rPr>
              <a:t>猫の死生観は「無関心・無意味な反復」から「愛による一度きりの生の肯定と意味ある死の受容」へと劇的に変容する。</a:t>
            </a:r>
            <a:endParaRPr lang="en-US" sz="1750" dirty="0"/>
          </a:p>
        </p:txBody>
      </p:sp>
      <p:sp>
        <p:nvSpPr>
          <p:cNvPr id="6" name="Text 4"/>
          <p:cNvSpPr/>
          <p:nvPr/>
        </p:nvSpPr>
        <p:spPr>
          <a:xfrm>
            <a:off x="1028224" y="4759762"/>
            <a:ext cx="5939195" cy="725805"/>
          </a:xfrm>
          <a:prstGeom prst="rect">
            <a:avLst/>
          </a:prstGeom>
          <a:noFill/>
        </p:spPr>
        <p:txBody>
          <a:bodyPr wrap="square" lIns="0" tIns="0" rIns="0" bIns="0" rtlCol="0" anchor="t"/>
          <a:lstStyle/>
          <a:p>
            <a:pPr marL="342900" indent="-342900" algn="l">
              <a:lnSpc>
                <a:spcPts val="2850"/>
              </a:lnSpc>
              <a:buSzPct val="100000"/>
              <a:buFont typeface="+mj-lt"/>
              <a:buAutoNum type="arabicPeriod" startAt="2"/>
            </a:pPr>
            <a:r>
              <a:rPr lang="en-US" sz="1750" dirty="0">
                <a:solidFill>
                  <a:srgbClr val="151617"/>
                </a:solidFill>
                <a:latin typeface="Inconsolata" panose="00000509000000000000" pitchFamily="34" charset="0"/>
                <a:ea typeface="Inconsolata" panose="00000509000000000000" pitchFamily="34" charset="-122"/>
                <a:cs typeface="Inconsolata" panose="00000509000000000000" pitchFamily="34" charset="-120"/>
              </a:rPr>
              <a:t>「愛」こそが、生の価値を付与し、有限性を受け入れる核心的要素。</a:t>
            </a:r>
            <a:endParaRPr lang="en-US" sz="1750" dirty="0"/>
          </a:p>
        </p:txBody>
      </p:sp>
      <p:sp>
        <p:nvSpPr>
          <p:cNvPr id="7" name="Text 5"/>
          <p:cNvSpPr/>
          <p:nvPr/>
        </p:nvSpPr>
        <p:spPr>
          <a:xfrm>
            <a:off x="1028224" y="5564862"/>
            <a:ext cx="5939195" cy="725805"/>
          </a:xfrm>
          <a:prstGeom prst="rect">
            <a:avLst/>
          </a:prstGeom>
          <a:noFill/>
        </p:spPr>
        <p:txBody>
          <a:bodyPr wrap="square" lIns="0" tIns="0" rIns="0" bIns="0" rtlCol="0" anchor="t"/>
          <a:lstStyle/>
          <a:p>
            <a:pPr marL="342900" indent="-342900" algn="l">
              <a:lnSpc>
                <a:spcPts val="2850"/>
              </a:lnSpc>
              <a:buSzPct val="100000"/>
              <a:buFont typeface="+mj-lt"/>
              <a:buAutoNum type="arabicPeriod" startAt="3"/>
            </a:pPr>
            <a:r>
              <a:rPr lang="en-US" sz="1750" dirty="0">
                <a:solidFill>
                  <a:srgbClr val="151617"/>
                </a:solidFill>
                <a:latin typeface="Inconsolata" panose="00000509000000000000" pitchFamily="34" charset="0"/>
                <a:ea typeface="Inconsolata" panose="00000509000000000000" pitchFamily="34" charset="-122"/>
                <a:cs typeface="Inconsolata" panose="00000509000000000000" pitchFamily="34" charset="-120"/>
              </a:rPr>
              <a:t>二度と生き返らない結末は、愛によって完成された生の充足と解脱を示唆。</a:t>
            </a:r>
            <a:endParaRPr lang="en-US" sz="1750" dirty="0"/>
          </a:p>
        </p:txBody>
      </p:sp>
      <p:sp>
        <p:nvSpPr>
          <p:cNvPr id="8" name="Shape 6"/>
          <p:cNvSpPr/>
          <p:nvPr/>
        </p:nvSpPr>
        <p:spPr>
          <a:xfrm>
            <a:off x="7428667" y="2866906"/>
            <a:ext cx="6408063" cy="3658195"/>
          </a:xfrm>
          <a:prstGeom prst="roundRect">
            <a:avLst>
              <a:gd name="adj" fmla="val 250"/>
            </a:avLst>
          </a:prstGeom>
          <a:solidFill>
            <a:srgbClr val="F8ECE4"/>
          </a:solidFill>
          <a:ln w="7620">
            <a:solidFill>
              <a:srgbClr val="151617"/>
            </a:solidFill>
            <a:prstDash val="solid"/>
          </a:ln>
          <a:effectLst>
            <a:outerShdw dist="20320" dir="2700000" algn="bl" rotWithShape="0">
              <a:srgbClr val="151617">
                <a:alpha val="100000"/>
              </a:srgbClr>
            </a:outerShdw>
          </a:effectLst>
        </p:spPr>
      </p:sp>
      <p:sp>
        <p:nvSpPr>
          <p:cNvPr id="9" name="Text 7"/>
          <p:cNvSpPr/>
          <p:nvPr/>
        </p:nvSpPr>
        <p:spPr>
          <a:xfrm>
            <a:off x="7663101" y="3101340"/>
            <a:ext cx="2835235" cy="354330"/>
          </a:xfrm>
          <a:prstGeom prst="rect">
            <a:avLst/>
          </a:prstGeom>
          <a:noFill/>
        </p:spPr>
        <p:txBody>
          <a:bodyPr wrap="none" lIns="0" tIns="0" rIns="0" bIns="0" rtlCol="0" anchor="t"/>
          <a:lstStyle/>
          <a:p>
            <a:pPr marL="0" indent="0" algn="l">
              <a:lnSpc>
                <a:spcPts val="2750"/>
              </a:lnSpc>
              <a:buNone/>
            </a:pPr>
            <a:r>
              <a:rPr lang="en-US" sz="2200" b="1" dirty="0">
                <a:solidFill>
                  <a:srgbClr val="151617"/>
                </a:solidFill>
                <a:latin typeface="Montserrat Black" pitchFamily="34" charset="0"/>
                <a:ea typeface="Montserrat Black" pitchFamily="34" charset="-122"/>
                <a:cs typeface="Montserrat Black" pitchFamily="34" charset="-120"/>
              </a:rPr>
              <a:t>意義</a:t>
            </a:r>
            <a:endParaRPr lang="en-US" sz="2200" dirty="0"/>
          </a:p>
        </p:txBody>
      </p:sp>
      <p:sp>
        <p:nvSpPr>
          <p:cNvPr id="10" name="Text 8"/>
          <p:cNvSpPr/>
          <p:nvPr/>
        </p:nvSpPr>
        <p:spPr>
          <a:xfrm>
            <a:off x="7663101" y="3591758"/>
            <a:ext cx="5939195" cy="725805"/>
          </a:xfrm>
          <a:prstGeom prst="rect">
            <a:avLst/>
          </a:prstGeom>
          <a:noFill/>
        </p:spPr>
        <p:txBody>
          <a:bodyPr wrap="square" lIns="0" tIns="0" rIns="0" bIns="0" rtlCol="0" anchor="t"/>
          <a:lstStyle/>
          <a:p>
            <a:pPr marL="342900" indent="-342900" algn="l">
              <a:lnSpc>
                <a:spcPts val="2850"/>
              </a:lnSpc>
              <a:buSzPct val="100000"/>
              <a:buChar char="•"/>
            </a:pPr>
            <a:r>
              <a:rPr lang="en-US" sz="1750" dirty="0">
                <a:solidFill>
                  <a:srgbClr val="151617"/>
                </a:solidFill>
                <a:latin typeface="Inconsolata" panose="00000509000000000000" pitchFamily="34" charset="0"/>
                <a:ea typeface="Inconsolata" panose="00000509000000000000" pitchFamily="34" charset="-122"/>
                <a:cs typeface="Inconsolata" panose="00000509000000000000" pitchFamily="34" charset="-120"/>
              </a:rPr>
              <a:t>作品が現代人に投げかける「いかに生き、いかに死ぬか」という根源的な問いを再照明。</a:t>
            </a:r>
            <a:endParaRPr lang="en-US" sz="1750" dirty="0"/>
          </a:p>
        </p:txBody>
      </p:sp>
      <p:sp>
        <p:nvSpPr>
          <p:cNvPr id="11" name="Text 9"/>
          <p:cNvSpPr/>
          <p:nvPr/>
        </p:nvSpPr>
        <p:spPr>
          <a:xfrm>
            <a:off x="7663101" y="4396859"/>
            <a:ext cx="5939195" cy="362903"/>
          </a:xfrm>
          <a:prstGeom prst="rect">
            <a:avLst/>
          </a:prstGeom>
          <a:noFill/>
        </p:spPr>
        <p:txBody>
          <a:bodyPr wrap="none" lIns="0" tIns="0" rIns="0" bIns="0" rtlCol="0" anchor="t"/>
          <a:lstStyle/>
          <a:p>
            <a:pPr marL="342900" indent="-342900" algn="l">
              <a:lnSpc>
                <a:spcPts val="2850"/>
              </a:lnSpc>
              <a:buSzPct val="100000"/>
              <a:buChar char="•"/>
            </a:pPr>
            <a:r>
              <a:rPr lang="en-US" sz="1750" dirty="0">
                <a:solidFill>
                  <a:srgbClr val="151617"/>
                </a:solidFill>
                <a:latin typeface="Inconsolata" panose="00000509000000000000" pitchFamily="34" charset="0"/>
                <a:ea typeface="Inconsolata" panose="00000509000000000000" pitchFamily="34" charset="-122"/>
                <a:cs typeface="Inconsolata" panose="00000509000000000000" pitchFamily="34" charset="-120"/>
              </a:rPr>
              <a:t>他者との絆の中で見出される生の価値を提示。</a:t>
            </a:r>
            <a:endParaRPr lang="en-US" sz="17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93790" y="1251109"/>
            <a:ext cx="5670590" cy="708779"/>
          </a:xfrm>
          <a:prstGeom prst="rect">
            <a:avLst/>
          </a:prstGeom>
          <a:noFill/>
        </p:spPr>
        <p:txBody>
          <a:bodyPr wrap="none" lIns="0" tIns="0" rIns="0" bIns="0" rtlCol="0" anchor="t"/>
          <a:lstStyle/>
          <a:p>
            <a:pPr marL="0" indent="0" algn="l">
              <a:lnSpc>
                <a:spcPts val="5550"/>
              </a:lnSpc>
              <a:buNone/>
            </a:pPr>
            <a:r>
              <a:rPr lang="en-US" sz="4450" b="1" dirty="0">
                <a:solidFill>
                  <a:srgbClr val="151617"/>
                </a:solidFill>
                <a:latin typeface="Montserrat Black" pitchFamily="34" charset="0"/>
                <a:ea typeface="Montserrat Black" pitchFamily="34" charset="-122"/>
                <a:cs typeface="Montserrat Black" pitchFamily="34" charset="-120"/>
              </a:rPr>
              <a:t>研究者視点と成長収穫</a:t>
            </a:r>
            <a:endParaRPr lang="en-US" sz="4450" dirty="0"/>
          </a:p>
        </p:txBody>
      </p:sp>
      <p:sp>
        <p:nvSpPr>
          <p:cNvPr id="3" name="Text 1"/>
          <p:cNvSpPr/>
          <p:nvPr>
            <p:custDataLst>
              <p:tags r:id="rId1"/>
            </p:custDataLst>
          </p:nvPr>
        </p:nvSpPr>
        <p:spPr>
          <a:xfrm>
            <a:off x="1857256" y="2861548"/>
            <a:ext cx="2835235" cy="354330"/>
          </a:xfrm>
          <a:prstGeom prst="rect">
            <a:avLst/>
          </a:prstGeom>
          <a:noFill/>
        </p:spPr>
        <p:txBody>
          <a:bodyPr wrap="none" lIns="0" tIns="0" rIns="0" bIns="0" rtlCol="0" anchor="t"/>
          <a:lstStyle/>
          <a:p>
            <a:pPr marL="0" indent="0" algn="r">
              <a:lnSpc>
                <a:spcPts val="2750"/>
              </a:lnSpc>
              <a:buNone/>
            </a:pPr>
            <a:r>
              <a:rPr lang="en-US" sz="2200" b="1" dirty="0">
                <a:solidFill>
                  <a:srgbClr val="151617"/>
                </a:solidFill>
                <a:latin typeface="Montserrat Black" pitchFamily="34" charset="0"/>
                <a:ea typeface="Montserrat Black" pitchFamily="34" charset="-122"/>
                <a:cs typeface="Montserrat Black" pitchFamily="34" charset="-120"/>
              </a:rPr>
              <a:t>挑戦</a:t>
            </a:r>
            <a:endParaRPr lang="en-US" sz="2200" dirty="0"/>
          </a:p>
        </p:txBody>
      </p:sp>
      <p:sp>
        <p:nvSpPr>
          <p:cNvPr id="4" name="Text 2"/>
          <p:cNvSpPr/>
          <p:nvPr>
            <p:custDataLst>
              <p:tags r:id="rId2"/>
            </p:custDataLst>
          </p:nvPr>
        </p:nvSpPr>
        <p:spPr>
          <a:xfrm>
            <a:off x="793790" y="3351967"/>
            <a:ext cx="3898702" cy="725805"/>
          </a:xfrm>
          <a:prstGeom prst="rect">
            <a:avLst/>
          </a:prstGeom>
          <a:noFill/>
        </p:spPr>
        <p:txBody>
          <a:bodyPr wrap="square" lIns="0" tIns="0" rIns="0" bIns="0" rtlCol="0" anchor="t"/>
          <a:lstStyle/>
          <a:p>
            <a:pPr marL="0" indent="0" algn="r">
              <a:lnSpc>
                <a:spcPts val="2850"/>
              </a:lnSpc>
              <a:buNone/>
            </a:pPr>
            <a:r>
              <a:rPr lang="en-US" sz="1750" dirty="0">
                <a:solidFill>
                  <a:srgbClr val="151617"/>
                </a:solidFill>
                <a:latin typeface="Inconsolata" panose="00000509000000000000" pitchFamily="34" charset="0"/>
                <a:ea typeface="Inconsolata" panose="00000509000000000000" pitchFamily="34" charset="-122"/>
                <a:cs typeface="Inconsolata" panose="00000509000000000000" pitchFamily="34" charset="-120"/>
              </a:rPr>
              <a:t>抽象的で深遠な「死生観」というテーマへの挑戦。</a:t>
            </a:r>
            <a:endParaRPr lang="en-US" sz="1750" dirty="0"/>
          </a:p>
        </p:txBody>
      </p:sp>
      <p:pic>
        <p:nvPicPr>
          <p:cNvPr id="5" name="Image 0" descr="preencoded.png"/>
          <p:cNvPicPr>
            <a:picLocks noChangeAspect="1"/>
          </p:cNvPicPr>
          <p:nvPr>
            <p:custDataLst>
              <p:tags r:id="rId3"/>
            </p:custDataLst>
          </p:nvPr>
        </p:nvPicPr>
        <p:blipFill>
          <a:blip r:embed="rId4"/>
          <a:stretch>
            <a:fillRect/>
          </a:stretch>
        </p:blipFill>
        <p:spPr>
          <a:xfrm>
            <a:off x="5032653" y="2413516"/>
            <a:ext cx="4564975" cy="4564975"/>
          </a:xfrm>
          <a:prstGeom prst="rect">
            <a:avLst/>
          </a:prstGeom>
        </p:spPr>
      </p:pic>
      <p:pic>
        <p:nvPicPr>
          <p:cNvPr id="6" name="Image 1" descr="preencoded.png"/>
          <p:cNvPicPr>
            <a:picLocks noChangeAspect="1"/>
          </p:cNvPicPr>
          <p:nvPr>
            <p:custDataLst>
              <p:tags r:id="rId5"/>
            </p:custDataLst>
          </p:nvPr>
        </p:nvPicPr>
        <p:blipFill>
          <a:blip r:embed="rId6"/>
          <a:stretch>
            <a:fillRect/>
          </a:stretch>
        </p:blipFill>
        <p:spPr>
          <a:xfrm>
            <a:off x="6226731" y="3176588"/>
            <a:ext cx="339328" cy="424220"/>
          </a:xfrm>
          <a:prstGeom prst="rect">
            <a:avLst/>
          </a:prstGeom>
        </p:spPr>
      </p:pic>
      <p:sp>
        <p:nvSpPr>
          <p:cNvPr id="7" name="Text 3"/>
          <p:cNvSpPr/>
          <p:nvPr>
            <p:custDataLst>
              <p:tags r:id="rId7"/>
            </p:custDataLst>
          </p:nvPr>
        </p:nvSpPr>
        <p:spPr>
          <a:xfrm>
            <a:off x="9937790" y="2861548"/>
            <a:ext cx="2835235" cy="354330"/>
          </a:xfrm>
          <a:prstGeom prst="rect">
            <a:avLst/>
          </a:prstGeom>
          <a:noFill/>
        </p:spPr>
        <p:txBody>
          <a:bodyPr wrap="none" lIns="0" tIns="0" rIns="0" bIns="0" rtlCol="0" anchor="t"/>
          <a:lstStyle/>
          <a:p>
            <a:pPr marL="0" indent="0" algn="l">
              <a:lnSpc>
                <a:spcPts val="2750"/>
              </a:lnSpc>
              <a:buNone/>
            </a:pPr>
            <a:r>
              <a:rPr lang="en-US" sz="2200" b="1" dirty="0">
                <a:solidFill>
                  <a:srgbClr val="151617"/>
                </a:solidFill>
                <a:latin typeface="Montserrat Black" pitchFamily="34" charset="0"/>
                <a:ea typeface="Montserrat Black" pitchFamily="34" charset="-122"/>
                <a:cs typeface="Montserrat Black" pitchFamily="34" charset="-120"/>
              </a:rPr>
              <a:t>分析力</a:t>
            </a:r>
            <a:endParaRPr lang="en-US" sz="2200" dirty="0"/>
          </a:p>
        </p:txBody>
      </p:sp>
      <p:sp>
        <p:nvSpPr>
          <p:cNvPr id="8" name="Text 4"/>
          <p:cNvSpPr/>
          <p:nvPr>
            <p:custDataLst>
              <p:tags r:id="rId8"/>
            </p:custDataLst>
          </p:nvPr>
        </p:nvSpPr>
        <p:spPr>
          <a:xfrm>
            <a:off x="9937790" y="3351967"/>
            <a:ext cx="3898821" cy="725805"/>
          </a:xfrm>
          <a:prstGeom prst="rect">
            <a:avLst/>
          </a:prstGeom>
          <a:noFill/>
        </p:spPr>
        <p:txBody>
          <a:bodyPr wrap="square" lIns="0" tIns="0" rIns="0" bIns="0" rtlCol="0" anchor="t"/>
          <a:lstStyle/>
          <a:p>
            <a:pPr marL="0" indent="0" algn="l">
              <a:lnSpc>
                <a:spcPts val="2850"/>
              </a:lnSpc>
              <a:buNone/>
            </a:pPr>
            <a:r>
              <a:rPr lang="en-US" sz="1750" dirty="0">
                <a:solidFill>
                  <a:srgbClr val="151617"/>
                </a:solidFill>
                <a:latin typeface="Inconsolata" panose="00000509000000000000" pitchFamily="34" charset="0"/>
                <a:ea typeface="Inconsolata" panose="00000509000000000000" pitchFamily="34" charset="-122"/>
                <a:cs typeface="Inconsolata" panose="00000509000000000000" pitchFamily="34" charset="-120"/>
              </a:rPr>
              <a:t>図像と言葉から作者の意図や作品の深層心理を読み解く分析力の向上。</a:t>
            </a:r>
            <a:endParaRPr lang="en-US" sz="1750" dirty="0"/>
          </a:p>
        </p:txBody>
      </p:sp>
      <p:pic>
        <p:nvPicPr>
          <p:cNvPr id="9" name="Image 2" descr="preencoded.png"/>
          <p:cNvPicPr>
            <a:picLocks noChangeAspect="1"/>
          </p:cNvPicPr>
          <p:nvPr>
            <p:custDataLst>
              <p:tags r:id="rId9"/>
            </p:custDataLst>
          </p:nvPr>
        </p:nvPicPr>
        <p:blipFill>
          <a:blip r:embed="rId10"/>
          <a:stretch>
            <a:fillRect/>
          </a:stretch>
        </p:blipFill>
        <p:spPr>
          <a:xfrm>
            <a:off x="5032653" y="2413516"/>
            <a:ext cx="4564975" cy="4564975"/>
          </a:xfrm>
          <a:prstGeom prst="rect">
            <a:avLst/>
          </a:prstGeom>
        </p:spPr>
      </p:pic>
      <p:pic>
        <p:nvPicPr>
          <p:cNvPr id="10" name="Image 3" descr="preencoded.png"/>
          <p:cNvPicPr>
            <a:picLocks noChangeAspect="1"/>
          </p:cNvPicPr>
          <p:nvPr>
            <p:custDataLst>
              <p:tags r:id="rId11"/>
            </p:custDataLst>
          </p:nvPr>
        </p:nvPicPr>
        <p:blipFill>
          <a:blip r:embed="rId12"/>
          <a:stretch>
            <a:fillRect/>
          </a:stretch>
        </p:blipFill>
        <p:spPr>
          <a:xfrm>
            <a:off x="8452604" y="3565088"/>
            <a:ext cx="339328" cy="424220"/>
          </a:xfrm>
          <a:prstGeom prst="rect">
            <a:avLst/>
          </a:prstGeom>
        </p:spPr>
      </p:pic>
      <p:sp>
        <p:nvSpPr>
          <p:cNvPr id="11" name="Text 5"/>
          <p:cNvSpPr/>
          <p:nvPr>
            <p:custDataLst>
              <p:tags r:id="rId13"/>
            </p:custDataLst>
          </p:nvPr>
        </p:nvSpPr>
        <p:spPr>
          <a:xfrm>
            <a:off x="9937790" y="5314117"/>
            <a:ext cx="2835235" cy="354330"/>
          </a:xfrm>
          <a:prstGeom prst="rect">
            <a:avLst/>
          </a:prstGeom>
          <a:noFill/>
        </p:spPr>
        <p:txBody>
          <a:bodyPr wrap="none" lIns="0" tIns="0" rIns="0" bIns="0" rtlCol="0" anchor="t"/>
          <a:lstStyle/>
          <a:p>
            <a:pPr marL="0" indent="0" algn="l">
              <a:lnSpc>
                <a:spcPts val="2750"/>
              </a:lnSpc>
              <a:buNone/>
            </a:pPr>
            <a:r>
              <a:rPr lang="en-US" sz="2200" b="1" dirty="0">
                <a:solidFill>
                  <a:srgbClr val="151617"/>
                </a:solidFill>
                <a:latin typeface="Montserrat Black" pitchFamily="34" charset="0"/>
                <a:ea typeface="Montserrat Black" pitchFamily="34" charset="-122"/>
                <a:cs typeface="Montserrat Black" pitchFamily="34" charset="-120"/>
              </a:rPr>
              <a:t>自己認識</a:t>
            </a:r>
            <a:endParaRPr lang="en-US" sz="2200" dirty="0"/>
          </a:p>
        </p:txBody>
      </p:sp>
      <p:sp>
        <p:nvSpPr>
          <p:cNvPr id="12" name="Text 6"/>
          <p:cNvSpPr/>
          <p:nvPr>
            <p:custDataLst>
              <p:tags r:id="rId14"/>
            </p:custDataLst>
          </p:nvPr>
        </p:nvSpPr>
        <p:spPr>
          <a:xfrm>
            <a:off x="9937790" y="5804535"/>
            <a:ext cx="3898821" cy="725805"/>
          </a:xfrm>
          <a:prstGeom prst="rect">
            <a:avLst/>
          </a:prstGeom>
          <a:noFill/>
        </p:spPr>
        <p:txBody>
          <a:bodyPr wrap="square" lIns="0" tIns="0" rIns="0" bIns="0" rtlCol="0" anchor="t"/>
          <a:lstStyle/>
          <a:p>
            <a:pPr marL="0" indent="0" algn="l">
              <a:lnSpc>
                <a:spcPts val="2850"/>
              </a:lnSpc>
              <a:buNone/>
            </a:pPr>
            <a:r>
              <a:rPr lang="en-US" sz="1750" dirty="0">
                <a:solidFill>
                  <a:srgbClr val="151617"/>
                </a:solidFill>
                <a:latin typeface="Inconsolata" panose="00000509000000000000" pitchFamily="34" charset="0"/>
                <a:ea typeface="Inconsolata" panose="00000509000000000000" pitchFamily="34" charset="-122"/>
                <a:cs typeface="Inconsolata" panose="00000509000000000000" pitchFamily="34" charset="-120"/>
              </a:rPr>
              <a:t>自身の死生観を見つめ直し、生の有限性と価値を再認識する機会。</a:t>
            </a:r>
            <a:endParaRPr lang="en-US" sz="1750" dirty="0"/>
          </a:p>
        </p:txBody>
      </p:sp>
      <p:pic>
        <p:nvPicPr>
          <p:cNvPr id="13" name="Image 4" descr="preencoded.png"/>
          <p:cNvPicPr>
            <a:picLocks noChangeAspect="1"/>
          </p:cNvPicPr>
          <p:nvPr>
            <p:custDataLst>
              <p:tags r:id="rId15"/>
            </p:custDataLst>
          </p:nvPr>
        </p:nvPicPr>
        <p:blipFill>
          <a:blip r:embed="rId16"/>
          <a:stretch>
            <a:fillRect/>
          </a:stretch>
        </p:blipFill>
        <p:spPr>
          <a:xfrm>
            <a:off x="5032653" y="2413516"/>
            <a:ext cx="4564975" cy="4564975"/>
          </a:xfrm>
          <a:prstGeom prst="rect">
            <a:avLst/>
          </a:prstGeom>
        </p:spPr>
      </p:pic>
      <p:pic>
        <p:nvPicPr>
          <p:cNvPr id="14" name="Image 5" descr="preencoded.png"/>
          <p:cNvPicPr>
            <a:picLocks noChangeAspect="1"/>
          </p:cNvPicPr>
          <p:nvPr>
            <p:custDataLst>
              <p:tags r:id="rId17"/>
            </p:custDataLst>
          </p:nvPr>
        </p:nvPicPr>
        <p:blipFill>
          <a:blip r:embed="rId18"/>
          <a:stretch>
            <a:fillRect/>
          </a:stretch>
        </p:blipFill>
        <p:spPr>
          <a:xfrm>
            <a:off x="8064103" y="5790962"/>
            <a:ext cx="339328" cy="424220"/>
          </a:xfrm>
          <a:prstGeom prst="rect">
            <a:avLst/>
          </a:prstGeom>
        </p:spPr>
      </p:pic>
      <p:sp>
        <p:nvSpPr>
          <p:cNvPr id="15" name="Text 7"/>
          <p:cNvSpPr/>
          <p:nvPr>
            <p:custDataLst>
              <p:tags r:id="rId19"/>
            </p:custDataLst>
          </p:nvPr>
        </p:nvSpPr>
        <p:spPr>
          <a:xfrm>
            <a:off x="1857256" y="5314117"/>
            <a:ext cx="2835235" cy="354330"/>
          </a:xfrm>
          <a:prstGeom prst="rect">
            <a:avLst/>
          </a:prstGeom>
          <a:noFill/>
        </p:spPr>
        <p:txBody>
          <a:bodyPr wrap="none" lIns="0" tIns="0" rIns="0" bIns="0" rtlCol="0" anchor="t"/>
          <a:lstStyle/>
          <a:p>
            <a:pPr marL="0" indent="0" algn="r">
              <a:lnSpc>
                <a:spcPts val="2750"/>
              </a:lnSpc>
              <a:buNone/>
            </a:pPr>
            <a:r>
              <a:rPr lang="en-US" sz="2200" b="1" dirty="0">
                <a:solidFill>
                  <a:srgbClr val="151617"/>
                </a:solidFill>
                <a:latin typeface="Montserrat Black" pitchFamily="34" charset="0"/>
                <a:ea typeface="Montserrat Black" pitchFamily="34" charset="-122"/>
                <a:cs typeface="Montserrat Black" pitchFamily="34" charset="-120"/>
              </a:rPr>
              <a:t>表現力</a:t>
            </a:r>
            <a:endParaRPr lang="en-US" sz="2200" dirty="0"/>
          </a:p>
        </p:txBody>
      </p:sp>
      <p:sp>
        <p:nvSpPr>
          <p:cNvPr id="16" name="Text 8"/>
          <p:cNvSpPr/>
          <p:nvPr>
            <p:custDataLst>
              <p:tags r:id="rId20"/>
            </p:custDataLst>
          </p:nvPr>
        </p:nvSpPr>
        <p:spPr>
          <a:xfrm>
            <a:off x="793790" y="5804535"/>
            <a:ext cx="3898702" cy="725805"/>
          </a:xfrm>
          <a:prstGeom prst="rect">
            <a:avLst/>
          </a:prstGeom>
          <a:noFill/>
        </p:spPr>
        <p:txBody>
          <a:bodyPr wrap="square" lIns="0" tIns="0" rIns="0" bIns="0" rtlCol="0" anchor="t"/>
          <a:lstStyle/>
          <a:p>
            <a:pPr marL="0" indent="0" algn="r">
              <a:lnSpc>
                <a:spcPts val="2850"/>
              </a:lnSpc>
              <a:buNone/>
            </a:pPr>
            <a:r>
              <a:rPr lang="zh-CN" altLang="en-US" sz="1750" dirty="0"/>
              <a:t>論文執筆</a:t>
            </a:r>
            <a:r>
              <a:rPr lang="ja-JP" altLang="en-US" sz="1750" dirty="0"/>
              <a:t>の</a:t>
            </a:r>
            <a:r>
              <a:rPr lang="zh-CN" altLang="en-US" sz="1750" dirty="0"/>
              <a:t>過程</a:t>
            </a:r>
            <a:r>
              <a:rPr lang="ja-JP" altLang="en-US" sz="1750" dirty="0"/>
              <a:t>で</a:t>
            </a:r>
            <a:r>
              <a:rPr lang="zh-CN" altLang="en-US" sz="1750" dirty="0"/>
              <a:t>、表現力</a:t>
            </a:r>
            <a:r>
              <a:rPr lang="ja-JP" altLang="en-US" sz="1750" dirty="0"/>
              <a:t>が</a:t>
            </a:r>
            <a:r>
              <a:rPr lang="zh-CN" altLang="en-US" sz="1750" dirty="0"/>
              <a:t>向上</a:t>
            </a:r>
            <a:r>
              <a:rPr lang="ja-JP" altLang="en-US" sz="1750" dirty="0"/>
              <a:t>し</a:t>
            </a:r>
            <a:r>
              <a:rPr lang="zh-CN" altLang="en-US" sz="1750" dirty="0"/>
              <a:t>、言葉</a:t>
            </a:r>
            <a:r>
              <a:rPr lang="ja-JP" altLang="en-US" sz="1750" dirty="0"/>
              <a:t>の</a:t>
            </a:r>
            <a:r>
              <a:rPr lang="zh-CN" altLang="en-US" sz="1750" dirty="0"/>
              <a:t>使</a:t>
            </a:r>
            <a:r>
              <a:rPr lang="ja-JP" altLang="en-US" sz="1750" dirty="0"/>
              <a:t>い</a:t>
            </a:r>
            <a:r>
              <a:rPr lang="zh-CN" altLang="en-US" sz="1750" dirty="0"/>
              <a:t>方</a:t>
            </a:r>
            <a:r>
              <a:rPr lang="ja-JP" altLang="en-US" sz="1750" dirty="0"/>
              <a:t>や</a:t>
            </a:r>
            <a:r>
              <a:rPr lang="zh-CN" altLang="en-US" sz="1750" dirty="0"/>
              <a:t>論理</a:t>
            </a:r>
            <a:r>
              <a:rPr lang="ja-JP" altLang="en-US" sz="1750" dirty="0"/>
              <a:t>の</a:t>
            </a:r>
            <a:r>
              <a:rPr lang="zh-CN" altLang="en-US" sz="1750" dirty="0"/>
              <a:t>展開</a:t>
            </a:r>
            <a:r>
              <a:rPr lang="ja-JP" altLang="en-US" sz="1750" dirty="0"/>
              <a:t>もより</a:t>
            </a:r>
            <a:r>
              <a:rPr lang="zh-CN" altLang="en-US" sz="1750" dirty="0"/>
              <a:t>正確</a:t>
            </a:r>
            <a:r>
              <a:rPr lang="ja-JP" altLang="en-US" sz="1750" dirty="0"/>
              <a:t>かつ</a:t>
            </a:r>
            <a:r>
              <a:rPr lang="zh-CN" altLang="en-US" sz="1750" dirty="0"/>
              <a:t>明確</a:t>
            </a:r>
            <a:r>
              <a:rPr lang="ja-JP" altLang="en-US" sz="1750" dirty="0"/>
              <a:t>になっている</a:t>
            </a:r>
            <a:r>
              <a:rPr lang="zh-CN" altLang="en-US" sz="1750" dirty="0"/>
              <a:t>。</a:t>
            </a:r>
            <a:endParaRPr lang="zh-CN" altLang="en-US" sz="1750" dirty="0"/>
          </a:p>
        </p:txBody>
      </p:sp>
      <p:pic>
        <p:nvPicPr>
          <p:cNvPr id="17" name="Image 6" descr="preencoded.png"/>
          <p:cNvPicPr>
            <a:picLocks noChangeAspect="1"/>
          </p:cNvPicPr>
          <p:nvPr>
            <p:custDataLst>
              <p:tags r:id="rId21"/>
            </p:custDataLst>
          </p:nvPr>
        </p:nvPicPr>
        <p:blipFill>
          <a:blip r:embed="rId22"/>
          <a:stretch>
            <a:fillRect/>
          </a:stretch>
        </p:blipFill>
        <p:spPr>
          <a:xfrm>
            <a:off x="5032653" y="2413516"/>
            <a:ext cx="4564975" cy="4564975"/>
          </a:xfrm>
          <a:prstGeom prst="rect">
            <a:avLst/>
          </a:prstGeom>
        </p:spPr>
      </p:pic>
      <p:pic>
        <p:nvPicPr>
          <p:cNvPr id="18" name="Image 7" descr="preencoded.png"/>
          <p:cNvPicPr>
            <a:picLocks noChangeAspect="1"/>
          </p:cNvPicPr>
          <p:nvPr>
            <p:custDataLst>
              <p:tags r:id="rId23"/>
            </p:custDataLst>
          </p:nvPr>
        </p:nvPicPr>
        <p:blipFill>
          <a:blip r:embed="rId24"/>
          <a:stretch>
            <a:fillRect/>
          </a:stretch>
        </p:blipFill>
        <p:spPr>
          <a:xfrm>
            <a:off x="5838230" y="5402461"/>
            <a:ext cx="339328" cy="42422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93790" y="812244"/>
            <a:ext cx="7937659" cy="708779"/>
          </a:xfrm>
          <a:prstGeom prst="rect">
            <a:avLst/>
          </a:prstGeom>
          <a:noFill/>
        </p:spPr>
        <p:txBody>
          <a:bodyPr wrap="none" lIns="0" tIns="0" rIns="0" bIns="0" rtlCol="0" anchor="t"/>
          <a:lstStyle/>
          <a:p>
            <a:pPr marL="0" indent="0" algn="l">
              <a:lnSpc>
                <a:spcPts val="5550"/>
              </a:lnSpc>
              <a:buNone/>
            </a:pPr>
            <a:r>
              <a:rPr lang="en-US" sz="4450" b="1" dirty="0">
                <a:solidFill>
                  <a:srgbClr val="151617"/>
                </a:solidFill>
                <a:latin typeface="Montserrat Black" pitchFamily="34" charset="0"/>
                <a:ea typeface="Montserrat Black" pitchFamily="34" charset="-122"/>
                <a:cs typeface="Montserrat Black" pitchFamily="34" charset="-120"/>
              </a:rPr>
              <a:t>ご指導ありがとうございました</a:t>
            </a:r>
            <a:endParaRPr lang="en-US" sz="4450" dirty="0"/>
          </a:p>
        </p:txBody>
      </p:sp>
      <p:sp>
        <p:nvSpPr>
          <p:cNvPr id="4" name="Text 1"/>
          <p:cNvSpPr/>
          <p:nvPr/>
        </p:nvSpPr>
        <p:spPr>
          <a:xfrm>
            <a:off x="793790" y="6201013"/>
            <a:ext cx="2835235" cy="354330"/>
          </a:xfrm>
          <a:prstGeom prst="rect">
            <a:avLst/>
          </a:prstGeom>
          <a:noFill/>
        </p:spPr>
        <p:txBody>
          <a:bodyPr wrap="none" lIns="0" tIns="0" rIns="0" bIns="0" rtlCol="0" anchor="t"/>
          <a:lstStyle/>
          <a:p>
            <a:pPr marL="0" indent="0" algn="l">
              <a:lnSpc>
                <a:spcPts val="2750"/>
              </a:lnSpc>
              <a:buNone/>
            </a:pPr>
            <a:r>
              <a:rPr lang="en-US" sz="2200" b="1" dirty="0">
                <a:solidFill>
                  <a:srgbClr val="151617"/>
                </a:solidFill>
                <a:latin typeface="Montserrat Black" pitchFamily="34" charset="0"/>
                <a:ea typeface="Montserrat Black" pitchFamily="34" charset="-122"/>
                <a:cs typeface="Montserrat Black" pitchFamily="34" charset="-120"/>
              </a:rPr>
              <a:t>研究の完成</a:t>
            </a:r>
            <a:endParaRPr lang="en-US" sz="2200" dirty="0"/>
          </a:p>
        </p:txBody>
      </p:sp>
      <p:sp>
        <p:nvSpPr>
          <p:cNvPr id="5" name="Text 2"/>
          <p:cNvSpPr/>
          <p:nvPr/>
        </p:nvSpPr>
        <p:spPr>
          <a:xfrm>
            <a:off x="793790" y="6691432"/>
            <a:ext cx="6379607" cy="725805"/>
          </a:xfrm>
          <a:prstGeom prst="rect">
            <a:avLst/>
          </a:prstGeom>
          <a:noFill/>
        </p:spPr>
        <p:txBody>
          <a:bodyPr wrap="square" lIns="0" tIns="0" rIns="0" bIns="0" rtlCol="0" anchor="t"/>
          <a:lstStyle/>
          <a:p>
            <a:pPr marL="0" indent="0" algn="l">
              <a:lnSpc>
                <a:spcPts val="2850"/>
              </a:lnSpc>
              <a:buNone/>
            </a:pPr>
            <a:r>
              <a:rPr lang="en-US" sz="1750" dirty="0">
                <a:solidFill>
                  <a:srgbClr val="151617"/>
                </a:solidFill>
                <a:latin typeface="Inconsolata" panose="00000509000000000000" pitchFamily="34" charset="0"/>
                <a:ea typeface="Inconsolata" panose="00000509000000000000" pitchFamily="34" charset="-122"/>
                <a:cs typeface="Inconsolata" panose="00000509000000000000" pitchFamily="34" charset="-120"/>
              </a:rPr>
              <a:t>絵本『100万回生きたねこ』における死生観表現の研究を完成させることができました。</a:t>
            </a:r>
            <a:endParaRPr lang="en-US" sz="1750" dirty="0"/>
          </a:p>
        </p:txBody>
      </p:sp>
      <p:sp>
        <p:nvSpPr>
          <p:cNvPr id="7" name="Text 3"/>
          <p:cNvSpPr/>
          <p:nvPr/>
        </p:nvSpPr>
        <p:spPr>
          <a:xfrm>
            <a:off x="7456884" y="6201013"/>
            <a:ext cx="2835235" cy="354330"/>
          </a:xfrm>
          <a:prstGeom prst="rect">
            <a:avLst/>
          </a:prstGeom>
          <a:noFill/>
        </p:spPr>
        <p:txBody>
          <a:bodyPr wrap="none" lIns="0" tIns="0" rIns="0" bIns="0" rtlCol="0" anchor="t"/>
          <a:lstStyle/>
          <a:p>
            <a:pPr marL="0" indent="0" algn="l">
              <a:lnSpc>
                <a:spcPts val="2750"/>
              </a:lnSpc>
              <a:buNone/>
            </a:pPr>
            <a:r>
              <a:rPr lang="en-US" sz="2200" b="1" dirty="0">
                <a:solidFill>
                  <a:srgbClr val="151617"/>
                </a:solidFill>
                <a:latin typeface="Montserrat Black" pitchFamily="34" charset="0"/>
                <a:ea typeface="Montserrat Black" pitchFamily="34" charset="-122"/>
                <a:cs typeface="Montserrat Black" pitchFamily="34" charset="-120"/>
              </a:rPr>
              <a:t>感謝の気持ち</a:t>
            </a:r>
            <a:endParaRPr lang="en-US" sz="2200" dirty="0"/>
          </a:p>
        </p:txBody>
      </p:sp>
      <p:sp>
        <p:nvSpPr>
          <p:cNvPr id="8" name="Text 4"/>
          <p:cNvSpPr/>
          <p:nvPr/>
        </p:nvSpPr>
        <p:spPr>
          <a:xfrm>
            <a:off x="7456884" y="6691432"/>
            <a:ext cx="6379726" cy="362903"/>
          </a:xfrm>
          <a:prstGeom prst="rect">
            <a:avLst/>
          </a:prstGeom>
          <a:noFill/>
        </p:spPr>
        <p:txBody>
          <a:bodyPr wrap="none" lIns="0" tIns="0" rIns="0" bIns="0" rtlCol="0" anchor="t"/>
          <a:lstStyle/>
          <a:p>
            <a:pPr marL="0" indent="0" algn="l">
              <a:lnSpc>
                <a:spcPts val="2850"/>
              </a:lnSpc>
              <a:buNone/>
            </a:pPr>
            <a:r>
              <a:rPr lang="en-US" sz="1750" dirty="0">
                <a:solidFill>
                  <a:srgbClr val="151617"/>
                </a:solidFill>
                <a:latin typeface="Inconsolata" panose="00000509000000000000" pitchFamily="34" charset="0"/>
                <a:ea typeface="Inconsolata" panose="00000509000000000000" pitchFamily="34" charset="-122"/>
                <a:cs typeface="Inconsolata" panose="00000509000000000000" pitchFamily="34" charset="-120"/>
              </a:rPr>
              <a:t>黄偉明先生のご指導に心より感謝申し上げます。</a:t>
            </a:r>
            <a:endParaRPr lang="en-US" sz="1750" dirty="0"/>
          </a:p>
        </p:txBody>
      </p:sp>
    </p:spTree>
  </p:cSld>
  <p:clrMapOvr>
    <a:masterClrMapping/>
  </p:clrMapOvr>
</p:sld>
</file>

<file path=ppt/tags/tag1.xml><?xml version="1.0" encoding="utf-8"?>
<p:tagLst xmlns:p="http://schemas.openxmlformats.org/presentationml/2006/main">
  <p:tag name="KSO_WM_DIAGRAM_VIRTUALLY_FRAME" val="{&quot;height&quot;:210.93748031496062,&quot;left&quot;:62.50314960629921,&quot;top&quot;:264.29062992125984,&quot;width&quot;:1027.003070866142}"/>
</p:tagLst>
</file>

<file path=ppt/tags/tag2.xml><?xml version="1.0" encoding="utf-8"?>
<p:tagLst xmlns:p="http://schemas.openxmlformats.org/presentationml/2006/main">
  <p:tag name="KSO_WM_DIAGRAM_VIRTUALLY_FRAME" val="{&quot;height&quot;:210.93748031496062,&quot;left&quot;:62.50314960629921,&quot;top&quot;:264.29062992125984,&quot;width&quot;:1027.003070866142}"/>
</p:tagLst>
</file>

<file path=ppt/tags/tag3.xml><?xml version="1.0" encoding="utf-8"?>
<p:tagLst xmlns:p="http://schemas.openxmlformats.org/presentationml/2006/main">
  <p:tag name="KSO_WM_DIAGRAM_VIRTUALLY_FRAME" val="{&quot;height&quot;:210.93748031496062,&quot;left&quot;:62.50314960629921,&quot;top&quot;:264.29062992125984,&quot;width&quot;:1027.003070866142}"/>
</p:tagLst>
</file>

<file path=ppt/tags/tag4.xml><?xml version="1.0" encoding="utf-8"?>
<p:tagLst xmlns:p="http://schemas.openxmlformats.org/presentationml/2006/main">
  <p:tag name="KSO_WM_DIAGRAM_VIRTUALLY_FRAME" val="{&quot;height&quot;:210.93748031496062,&quot;left&quot;:62.50314960629921,&quot;top&quot;:264.29062992125984,&quot;width&quot;:1027.003070866142}"/>
</p:tagLst>
</file>

<file path=ppt/tags/tag5.xml><?xml version="1.0" encoding="utf-8"?>
<p:tagLst xmlns:p="http://schemas.openxmlformats.org/presentationml/2006/main">
  <p:tag name="KSO_WM_DIAGRAM_VIRTUALLY_FRAME" val="{&quot;height&quot;:210.93748031496062,&quot;left&quot;:62.50314960629921,&quot;top&quot;:264.29062992125984,&quot;width&quot;:1027.003070866142}"/>
</p:tagLst>
</file>

<file path=ppt/tags/tag6.xml><?xml version="1.0" encoding="utf-8"?>
<p:tagLst xmlns:p="http://schemas.openxmlformats.org/presentationml/2006/main">
  <p:tag name="KSO_WM_DIAGRAM_VIRTUALLY_FRAME" val="{&quot;height&quot;:210.93748031496062,&quot;left&quot;:62.50314960629921,&quot;top&quot;:264.29062992125984,&quot;width&quot;:1027.003070866142}"/>
</p:tagLst>
</file>

<file path=ppt/tags/tag7.xml><?xml version="1.0" encoding="utf-8"?>
<p:tagLst xmlns:p="http://schemas.openxmlformats.org/presentationml/2006/main">
  <p:tag name="KSO_WM_DIAGRAM_VIRTUALLY_FRAME" val="{&quot;height&quot;:210.93748031496062,&quot;left&quot;:62.50314960629921,&quot;top&quot;:264.29062992125984,&quot;width&quot;:1027.003070866142}"/>
</p:tagLst>
</file>

<file path=ppt/tags/tag8.xml><?xml version="1.0" encoding="utf-8"?>
<p:tagLst xmlns:p="http://schemas.openxmlformats.org/presentationml/2006/main">
  <p:tag name="KSO_WM_DIAGRAM_VIRTUALLY_FRAME" val="{&quot;height&quot;:210.93748031496062,&quot;left&quot;:62.50314960629921,&quot;top&quot;:264.29062992125984,&quot;width&quot;:1027.003070866142}"/>
</p:tagLst>
</file>

<file path=ppt/tags/tag9.xml><?xml version="1.0" encoding="utf-8"?>
<p:tagLst xmlns:p="http://schemas.openxmlformats.org/presentationml/2006/main">
  <p:tag name="KSO_WM_DIAGRAM_VIRTUALLY_FRAME" val="{&quot;height&quot;:210.93748031496062,&quot;left&quot;:62.50314960629921,&quot;top&quot;:264.29062992125984,&quot;width&quot;:1027.003070866142}"/>
</p:tagLst>
</file>

<file path=ppt/tags/tag10.xml><?xml version="1.0" encoding="utf-8"?>
<p:tagLst xmlns:p="http://schemas.openxmlformats.org/presentationml/2006/main">
  <p:tag name="KSO_WM_DIAGRAM_VIRTUALLY_FRAME" val="{&quot;height&quot;:210.93748031496062,&quot;left&quot;:62.50314960629921,&quot;top&quot;:264.29062992125984,&quot;width&quot;:1027.003070866142}"/>
</p:tagLst>
</file>

<file path=ppt/tags/tag11.xml><?xml version="1.0" encoding="utf-8"?>
<p:tagLst xmlns:p="http://schemas.openxmlformats.org/presentationml/2006/main">
  <p:tag name="KSO_WM_DIAGRAM_VIRTUALLY_FRAME" val="{&quot;height&quot;:210.93748031496062,&quot;left&quot;:62.50314960629921,&quot;top&quot;:264.29062992125984,&quot;width&quot;:1027.003070866142}"/>
</p:tagLst>
</file>

<file path=ppt/tags/tag12.xml><?xml version="1.0" encoding="utf-8"?>
<p:tagLst xmlns:p="http://schemas.openxmlformats.org/presentationml/2006/main">
  <p:tag name="KSO_WM_DIAGRAM_VIRTUALLY_FRAME" val="{&quot;height&quot;:210.93748031496062,&quot;left&quot;:62.50314960629921,&quot;top&quot;:264.29062992125984,&quot;width&quot;:1027.003070866142}"/>
</p:tagLst>
</file>

<file path=ppt/tags/tag13.xml><?xml version="1.0" encoding="utf-8"?>
<p:tagLst xmlns:p="http://schemas.openxmlformats.org/presentationml/2006/main">
  <p:tag name="KSO_WM_DIAGRAM_VIRTUALLY_FRAME" val="{&quot;height&quot;:377.4749606299212,&quot;left&quot;:173.45622047244095,&quot;top&quot;:154.01251968503936,&quot;width&quot;:917.8312598425197}"/>
</p:tagLst>
</file>

<file path=ppt/tags/tag14.xml><?xml version="1.0" encoding="utf-8"?>
<p:tagLst xmlns:p="http://schemas.openxmlformats.org/presentationml/2006/main">
  <p:tag name="KSO_WM_DIAGRAM_VIRTUALLY_FRAME" val="{&quot;height&quot;:377.4749606299212,&quot;left&quot;:173.45622047244095,&quot;top&quot;:154.01251968503936,&quot;width&quot;:917.8312598425197}"/>
</p:tagLst>
</file>

<file path=ppt/tags/tag15.xml><?xml version="1.0" encoding="utf-8"?>
<p:tagLst xmlns:p="http://schemas.openxmlformats.org/presentationml/2006/main">
  <p:tag name="KSO_WM_DIAGRAM_VIRTUALLY_FRAME" val="{&quot;height&quot;:377.4749606299212,&quot;left&quot;:173.45622047244095,&quot;top&quot;:154.01251968503936,&quot;width&quot;:917.8312598425197}"/>
</p:tagLst>
</file>

<file path=ppt/tags/tag16.xml><?xml version="1.0" encoding="utf-8"?>
<p:tagLst xmlns:p="http://schemas.openxmlformats.org/presentationml/2006/main">
  <p:tag name="KSO_WM_DIAGRAM_VIRTUALLY_FRAME" val="{&quot;height&quot;:377.4749606299212,&quot;left&quot;:173.45622047244095,&quot;top&quot;:154.01251968503936,&quot;width&quot;:917.8312598425197}"/>
</p:tagLst>
</file>

<file path=ppt/tags/tag17.xml><?xml version="1.0" encoding="utf-8"?>
<p:tagLst xmlns:p="http://schemas.openxmlformats.org/presentationml/2006/main">
  <p:tag name="KSO_WM_DIAGRAM_VIRTUALLY_FRAME" val="{&quot;height&quot;:377.4749606299212,&quot;left&quot;:173.45622047244095,&quot;top&quot;:154.01251968503936,&quot;width&quot;:917.8312598425197}"/>
</p:tagLst>
</file>

<file path=ppt/tags/tag18.xml><?xml version="1.0" encoding="utf-8"?>
<p:tagLst xmlns:p="http://schemas.openxmlformats.org/presentationml/2006/main">
  <p:tag name="KSO_WM_DIAGRAM_VIRTUALLY_FRAME" val="{&quot;height&quot;:377.4749606299212,&quot;left&quot;:173.45622047244095,&quot;top&quot;:154.01251968503936,&quot;width&quot;:917.8312598425197}"/>
</p:tagLst>
</file>

<file path=ppt/tags/tag19.xml><?xml version="1.0" encoding="utf-8"?>
<p:tagLst xmlns:p="http://schemas.openxmlformats.org/presentationml/2006/main">
  <p:tag name="KSO_WM_DIAGRAM_VIRTUALLY_FRAME" val="{&quot;height&quot;:359.4468503937008,&quot;left&quot;:62.50314960629921,&quot;top&quot;:190.04062992125984,&quot;width&quot;:1026.993779527559}"/>
</p:tagLst>
</file>

<file path=ppt/tags/tag20.xml><?xml version="1.0" encoding="utf-8"?>
<p:tagLst xmlns:p="http://schemas.openxmlformats.org/presentationml/2006/main">
  <p:tag name="KSO_WM_DIAGRAM_VIRTUALLY_FRAME" val="{&quot;height&quot;:359.4468503937008,&quot;left&quot;:62.50314960629921,&quot;top&quot;:190.04062992125984,&quot;width&quot;:1026.993779527559}"/>
</p:tagLst>
</file>

<file path=ppt/tags/tag21.xml><?xml version="1.0" encoding="utf-8"?>
<p:tagLst xmlns:p="http://schemas.openxmlformats.org/presentationml/2006/main">
  <p:tag name="KSO_WM_DIAGRAM_VIRTUALLY_FRAME" val="{&quot;height&quot;:359.4468503937008,&quot;left&quot;:62.50314960629921,&quot;top&quot;:190.04062992125984,&quot;width&quot;:1026.993779527559}"/>
</p:tagLst>
</file>

<file path=ppt/tags/tag22.xml><?xml version="1.0" encoding="utf-8"?>
<p:tagLst xmlns:p="http://schemas.openxmlformats.org/presentationml/2006/main">
  <p:tag name="KSO_WM_DIAGRAM_VIRTUALLY_FRAME" val="{&quot;height&quot;:359.4468503937008,&quot;left&quot;:62.50314960629921,&quot;top&quot;:190.04062992125984,&quot;width&quot;:1026.993779527559}"/>
</p:tagLst>
</file>

<file path=ppt/tags/tag23.xml><?xml version="1.0" encoding="utf-8"?>
<p:tagLst xmlns:p="http://schemas.openxmlformats.org/presentationml/2006/main">
  <p:tag name="KSO_WM_DIAGRAM_VIRTUALLY_FRAME" val="{&quot;height&quot;:359.4468503937008,&quot;left&quot;:62.50314960629921,&quot;top&quot;:190.04062992125984,&quot;width&quot;:1026.993779527559}"/>
</p:tagLst>
</file>

<file path=ppt/tags/tag24.xml><?xml version="1.0" encoding="utf-8"?>
<p:tagLst xmlns:p="http://schemas.openxmlformats.org/presentationml/2006/main">
  <p:tag name="KSO_WM_DIAGRAM_VIRTUALLY_FRAME" val="{&quot;height&quot;:359.4468503937008,&quot;left&quot;:62.50314960629921,&quot;top&quot;:190.04062992125984,&quot;width&quot;:1026.993779527559}"/>
</p:tagLst>
</file>

<file path=ppt/tags/tag25.xml><?xml version="1.0" encoding="utf-8"?>
<p:tagLst xmlns:p="http://schemas.openxmlformats.org/presentationml/2006/main">
  <p:tag name="KSO_WM_DIAGRAM_VIRTUALLY_FRAME" val="{&quot;height&quot;:359.4468503937008,&quot;left&quot;:62.50314960629921,&quot;top&quot;:190.04062992125984,&quot;width&quot;:1026.993779527559}"/>
</p:tagLst>
</file>

<file path=ppt/tags/tag26.xml><?xml version="1.0" encoding="utf-8"?>
<p:tagLst xmlns:p="http://schemas.openxmlformats.org/presentationml/2006/main">
  <p:tag name="KSO_WM_DIAGRAM_VIRTUALLY_FRAME" val="{&quot;height&quot;:359.4468503937008,&quot;left&quot;:62.50314960629921,&quot;top&quot;:190.04062992125984,&quot;width&quot;:1026.993779527559}"/>
</p:tagLst>
</file>

<file path=ppt/tags/tag27.xml><?xml version="1.0" encoding="utf-8"?>
<p:tagLst xmlns:p="http://schemas.openxmlformats.org/presentationml/2006/main">
  <p:tag name="KSO_WM_DIAGRAM_VIRTUALLY_FRAME" val="{&quot;height&quot;:359.4468503937008,&quot;left&quot;:62.50314960629921,&quot;top&quot;:190.04062992125984,&quot;width&quot;:1026.993779527559}"/>
</p:tagLst>
</file>

<file path=ppt/tags/tag28.xml><?xml version="1.0" encoding="utf-8"?>
<p:tagLst xmlns:p="http://schemas.openxmlformats.org/presentationml/2006/main">
  <p:tag name="KSO_WM_DIAGRAM_VIRTUALLY_FRAME" val="{&quot;height&quot;:359.4468503937008,&quot;left&quot;:62.50314960629921,&quot;top&quot;:190.04062992125984,&quot;width&quot;:1026.993779527559}"/>
</p:tagLst>
</file>

<file path=ppt/tags/tag29.xml><?xml version="1.0" encoding="utf-8"?>
<p:tagLst xmlns:p="http://schemas.openxmlformats.org/presentationml/2006/main">
  <p:tag name="KSO_WM_DIAGRAM_VIRTUALLY_FRAME" val="{&quot;height&quot;:359.4468503937008,&quot;left&quot;:62.50314960629921,&quot;top&quot;:190.04062992125984,&quot;width&quot;:1026.993779527559}"/>
</p:tagLst>
</file>

<file path=ppt/tags/tag30.xml><?xml version="1.0" encoding="utf-8"?>
<p:tagLst xmlns:p="http://schemas.openxmlformats.org/presentationml/2006/main">
  <p:tag name="KSO_WM_DIAGRAM_VIRTUALLY_FRAME" val="{&quot;height&quot;:359.4468503937008,&quot;left&quot;:62.50314960629921,&quot;top&quot;:190.04062992125984,&quot;width&quot;:1026.993779527559}"/>
</p:tagLst>
</file>

<file path=ppt/tags/tag31.xml><?xml version="1.0" encoding="utf-8"?>
<p:tagLst xmlns:p="http://schemas.openxmlformats.org/presentationml/2006/main">
  <p:tag name="KSO_WM_DIAGRAM_VIRTUALLY_FRAME" val="{&quot;height&quot;:359.4468503937008,&quot;left&quot;:62.50314960629921,&quot;top&quot;:190.04062992125984,&quot;width&quot;:1026.993779527559}"/>
</p:tagLst>
</file>

<file path=ppt/tags/tag32.xml><?xml version="1.0" encoding="utf-8"?>
<p:tagLst xmlns:p="http://schemas.openxmlformats.org/presentationml/2006/main">
  <p:tag name="KSO_WM_DIAGRAM_VIRTUALLY_FRAME" val="{&quot;height&quot;:359.4468503937008,&quot;left&quot;:62.50314960629921,&quot;top&quot;:190.04062992125984,&quot;width&quot;:1026.993779527559}"/>
</p:tagLst>
</file>

<file path=ppt/tags/tag33.xml><?xml version="1.0" encoding="utf-8"?>
<p:tagLst xmlns:p="http://schemas.openxmlformats.org/presentationml/2006/main">
  <p:tag name="KSO_WM_DIAGRAM_VIRTUALLY_FRAME" val="{&quot;height&quot;:359.4468503937008,&quot;left&quot;:62.50314960629921,&quot;top&quot;:190.04062992125984,&quot;width&quot;:1026.993779527559}"/>
</p:tagLst>
</file>

<file path=ppt/tags/tag34.xml><?xml version="1.0" encoding="utf-8"?>
<p:tagLst xmlns:p="http://schemas.openxmlformats.org/presentationml/2006/main">
  <p:tag name="KSO_WM_DIAGRAM_VIRTUALLY_FRAME" val="{&quot;height&quot;:359.4468503937008,&quot;left&quot;:62.50314960629921,&quot;top&quot;:190.04062992125984,&quot;width&quot;:1026.993779527559}"/>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1096</Words>
  <Application>WPS 演示</Application>
  <PresentationFormat>On-screen Show (16:9)</PresentationFormat>
  <Paragraphs>117</Paragraphs>
  <Slides>8</Slides>
  <Notes>8</Notes>
  <HiddenSlides>0</HiddenSlides>
  <MMClips>0</MMClips>
  <ScaleCrop>false</ScaleCrop>
  <HeadingPairs>
    <vt:vector size="6" baseType="variant">
      <vt:variant>
        <vt:lpstr>已用的字体</vt:lpstr>
      </vt:variant>
      <vt:variant>
        <vt:i4>21</vt:i4>
      </vt:variant>
      <vt:variant>
        <vt:lpstr>主题</vt:lpstr>
      </vt:variant>
      <vt:variant>
        <vt:i4>1</vt:i4>
      </vt:variant>
      <vt:variant>
        <vt:lpstr>幻灯片标题</vt:lpstr>
      </vt:variant>
      <vt:variant>
        <vt:i4>8</vt:i4>
      </vt:variant>
    </vt:vector>
  </HeadingPairs>
  <TitlesOfParts>
    <vt:vector size="30" baseType="lpstr">
      <vt:lpstr>Arial</vt:lpstr>
      <vt:lpstr>宋体</vt:lpstr>
      <vt:lpstr>Wingdings</vt:lpstr>
      <vt:lpstr>Montserrat Black</vt:lpstr>
      <vt:lpstr>Montserrat Black</vt:lpstr>
      <vt:lpstr>Montserrat Black</vt:lpstr>
      <vt:lpstr>Inconsolata</vt:lpstr>
      <vt:lpstr>Inconsolata</vt:lpstr>
      <vt:lpstr>Inconsolata</vt:lpstr>
      <vt:lpstr>Inconsolata Bold</vt:lpstr>
      <vt:lpstr>Segoe Print</vt:lpstr>
      <vt:lpstr>Inconsolata Bold</vt:lpstr>
      <vt:lpstr>Inconsolata Bold</vt:lpstr>
      <vt:lpstr>MS PGothic</vt:lpstr>
      <vt:lpstr>Calibri</vt:lpstr>
      <vt:lpstr>微软雅黑</vt:lpstr>
      <vt:lpstr>Arial Unicode MS</vt:lpstr>
      <vt:lpstr>等线</vt:lpstr>
      <vt:lpstr>MingLiU</vt:lpstr>
      <vt:lpstr>Calibri Light</vt:lpstr>
      <vt:lpstr>Yu Gothic</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PptxGenJS</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creator>PptxGenJS</dc:creator>
  <dc:subject>PptxGenJS Presentation</dc:subject>
  <cp:lastModifiedBy>Ooo</cp:lastModifiedBy>
  <cp:revision>3</cp:revision>
  <dcterms:created xsi:type="dcterms:W3CDTF">2025-05-21T19:28:00Z</dcterms:created>
  <dcterms:modified xsi:type="dcterms:W3CDTF">2025-05-23T09:02:36Z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C08F9B82A7F040E7B1BFEE9D46871EB4_12</vt:lpwstr>
  </property>
  <property fmtid="{D5CDD505-2E9C-101B-9397-08002B2CF9AE}" pid="3" name="KSOProductBuildVer">
    <vt:lpwstr>2052-12.1.0.21171</vt:lpwstr>
  </property>
</Properties>
</file>